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2" d="100"/>
          <a:sy n="92" d="100"/>
        </p:scale>
        <p:origin x="53" y="-8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Transactions</c:v>
                </c:pt>
              </c:strCache>
            </c:strRef>
          </c:tx>
          <c:spPr>
            <a:solidFill>
              <a:schemeClr val="accent1"/>
            </a:solidFill>
            <a:ln w="9525" cap="flat">
              <a:solidFill>
                <a:srgbClr val="F9F9F9"/>
              </a:solidFill>
              <a:prstDash val="solid"/>
              <a:round/>
            </a:ln>
            <a:effectLst/>
          </c:spPr>
          <c:dPt>
            <c:idx val="0"/>
            <c:bubble3D val="0"/>
            <c:spPr>
              <a:solidFill>
                <a:srgbClr val="2E5A9C"/>
              </a:solidFill>
              <a:effectLst/>
            </c:spPr>
            <c:extLst>
              <c:ext xmlns:c16="http://schemas.microsoft.com/office/drawing/2014/chart" uri="{C3380CC4-5D6E-409C-BE32-E72D297353CC}">
                <c16:uniqueId val="{00000001-E37A-4A95-81C9-A19B31059658}"/>
              </c:ext>
            </c:extLst>
          </c:dPt>
          <c:dPt>
            <c:idx val="1"/>
            <c:bubble3D val="0"/>
            <c:spPr>
              <a:solidFill>
                <a:srgbClr val="E63946"/>
              </a:solidFill>
              <a:effectLst/>
            </c:spPr>
            <c:extLst>
              <c:ext xmlns:c16="http://schemas.microsoft.com/office/drawing/2014/chart" uri="{C3380CC4-5D6E-409C-BE32-E72D297353CC}">
                <c16:uniqueId val="{00000003-E37A-4A95-81C9-A19B31059658}"/>
              </c:ext>
            </c:extLst>
          </c:dPt>
          <c:dLbls>
            <c:dLbl>
              <c:idx val="0"/>
              <c:numFmt formatCode="0.0&quot;%&quot;"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37A-4A95-81C9-A19B31059658}"/>
                </c:ext>
              </c:extLst>
            </c:dLbl>
            <c:dLbl>
              <c:idx val="1"/>
              <c:numFmt formatCode="0.0&quot;%&quot;" sourceLinked="0"/>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7A-4A95-81C9-A19B31059658}"/>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Legitimate</c:v>
                </c:pt>
                <c:pt idx="1">
                  <c:v>Fraudulent</c:v>
                </c:pt>
              </c:strCache>
            </c:strRef>
          </c:cat>
          <c:val>
            <c:numRef>
              <c:f>Sheet1!$B$2:$B$3</c:f>
              <c:numCache>
                <c:formatCode>General</c:formatCode>
                <c:ptCount val="2"/>
                <c:pt idx="0">
                  <c:v>99.83</c:v>
                </c:pt>
                <c:pt idx="1">
                  <c:v>0.17</c:v>
                </c:pt>
              </c:numCache>
            </c:numRef>
          </c:val>
          <c:extLst>
            <c:ext xmlns:c16="http://schemas.microsoft.com/office/drawing/2014/chart" uri="{C3380CC4-5D6E-409C-BE32-E72D297353CC}">
              <c16:uniqueId val="{00000004-E37A-4A95-81C9-A19B31059658}"/>
            </c:ext>
          </c:extLst>
        </c:ser>
        <c:dLbls>
          <c:showLegendKey val="0"/>
          <c:showVal val="0"/>
          <c:showCatName val="0"/>
          <c:showSerName val="0"/>
          <c:showPercent val="0"/>
          <c:showBubbleSize val="0"/>
          <c:showLeaderLines val="0"/>
        </c:dLbls>
        <c:firstSliceAng val="0"/>
        <c:holeSize val="65"/>
      </c:doughnutChart>
      <c:spPr>
        <a:noFill/>
        <a:ln>
          <a:noFill/>
        </a:ln>
        <a:effectLst/>
      </c:spPr>
    </c:plotArea>
    <c:legend>
      <c:legendPos val="b"/>
      <c:overlay val="0"/>
      <c:txPr>
        <a:bodyPr/>
        <a:lstStyle/>
        <a:p>
          <a:pPr>
            <a:defRPr sz="1100">
              <a:solidFill>
                <a:srgbClr val="3C4858"/>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Amount ($)</c:v>
                </c:pt>
              </c:strCache>
            </c:strRef>
          </c:tx>
          <c:spPr>
            <a:solidFill>
              <a:srgbClr val="2E5A9C"/>
            </a:solidFill>
            <a:effectLst/>
          </c:spPr>
          <c:invertIfNegative val="0"/>
          <c:dLbls>
            <c:numFmt formatCode="#,##0" sourceLinked="0"/>
            <c:spPr>
              <a:noFill/>
              <a:ln>
                <a:noFill/>
              </a:ln>
              <a:effectLst/>
            </c:spPr>
            <c:txPr>
              <a:bodyPr/>
              <a:lstStyle/>
              <a:p>
                <a:pPr>
                  <a:defRPr sz="800" b="0" i="0" u="none" strike="noStrike">
                    <a:solidFill>
                      <a:srgbClr val="3C485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0-4h</c:v>
                </c:pt>
                <c:pt idx="1">
                  <c:v>4-8h</c:v>
                </c:pt>
                <c:pt idx="2">
                  <c:v>8-12h</c:v>
                </c:pt>
                <c:pt idx="3">
                  <c:v>12-16h</c:v>
                </c:pt>
                <c:pt idx="4">
                  <c:v>16-20h</c:v>
                </c:pt>
                <c:pt idx="5">
                  <c:v>20-24h</c:v>
                </c:pt>
              </c:strCache>
            </c:strRef>
          </c:cat>
          <c:val>
            <c:numRef>
              <c:f>Sheet1!$B$2:$B$7</c:f>
              <c:numCache>
                <c:formatCode>General</c:formatCode>
                <c:ptCount val="6"/>
                <c:pt idx="0">
                  <c:v>62</c:v>
                </c:pt>
                <c:pt idx="1">
                  <c:v>48</c:v>
                </c:pt>
                <c:pt idx="2">
                  <c:v>95</c:v>
                </c:pt>
                <c:pt idx="3">
                  <c:v>110</c:v>
                </c:pt>
                <c:pt idx="4">
                  <c:v>102</c:v>
                </c:pt>
                <c:pt idx="5">
                  <c:v>74</c:v>
                </c:pt>
              </c:numCache>
            </c:numRef>
          </c:val>
          <c:extLst>
            <c:ext xmlns:c16="http://schemas.microsoft.com/office/drawing/2014/chart" uri="{C3380CC4-5D6E-409C-BE32-E72D297353CC}">
              <c16:uniqueId val="{00000000-CC80-4306-8296-F65FABB117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DE3ED"/>
            </a:solidFill>
            <a:prstDash val="solid"/>
            <a:round/>
          </a:ln>
        </c:spPr>
        <c:txPr>
          <a:bodyPr/>
          <a:lstStyle/>
          <a:p>
            <a:pPr>
              <a:defRPr sz="850" b="0" i="0" u="none" strike="noStrike">
                <a:solidFill>
                  <a:srgbClr val="6B76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DE3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B76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Transactions</c:v>
                </c:pt>
              </c:strCache>
            </c:strRef>
          </c:tx>
          <c:spPr>
            <a:solidFill>
              <a:srgbClr val="2E5A9C"/>
            </a:solidFill>
            <a:effectLst/>
          </c:spPr>
          <c:invertIfNegative val="0"/>
          <c:dLbls>
            <c:numFmt formatCode="#,##0" sourceLinked="0"/>
            <c:spPr>
              <a:noFill/>
              <a:ln>
                <a:noFill/>
              </a:ln>
              <a:effectLst/>
            </c:spPr>
            <c:txPr>
              <a:bodyPr/>
              <a:lstStyle/>
              <a:p>
                <a:pPr>
                  <a:defRPr sz="800" b="0" i="0" u="none" strike="noStrike">
                    <a:solidFill>
                      <a:srgbClr val="3C485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Legitimate</c:v>
                </c:pt>
                <c:pt idx="1">
                  <c:v>Fraudulent</c:v>
                </c:pt>
              </c:strCache>
            </c:strRef>
          </c:cat>
          <c:val>
            <c:numRef>
              <c:f>Sheet1!$B$2:$B$3</c:f>
              <c:numCache>
                <c:formatCode>General</c:formatCode>
                <c:ptCount val="2"/>
                <c:pt idx="0">
                  <c:v>284315</c:v>
                </c:pt>
                <c:pt idx="1">
                  <c:v>492</c:v>
                </c:pt>
              </c:numCache>
            </c:numRef>
          </c:val>
          <c:extLst>
            <c:ext xmlns:c16="http://schemas.microsoft.com/office/drawing/2014/chart" uri="{C3380CC4-5D6E-409C-BE32-E72D297353CC}">
              <c16:uniqueId val="{00000000-2620-4AA4-AB59-9CA11E9223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DE3ED"/>
            </a:solidFill>
            <a:prstDash val="solid"/>
            <a:round/>
          </a:ln>
        </c:spPr>
        <c:txPr>
          <a:bodyPr/>
          <a:lstStyle/>
          <a:p>
            <a:pPr>
              <a:defRPr sz="850" b="0" i="0" u="none" strike="noStrike">
                <a:solidFill>
                  <a:srgbClr val="6B7688"/>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a:solidFill>
                <a:srgbClr val="DDE3ED"/>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6596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a:effectLst/>
      </p:bgPr>
    </p:bg>
    <p:spTree>
      <p:nvGrpSpPr>
        <p:cNvPr id="1" name=""/>
        <p:cNvGrpSpPr/>
        <p:nvPr/>
      </p:nvGrpSpPr>
      <p:grpSpPr>
        <a:xfrm>
          <a:off x="0" y="0"/>
          <a:ext cx="0" cy="0"/>
          <a:chOff x="0" y="0"/>
          <a:chExt cx="0" cy="0"/>
        </a:xfrm>
      </p:grpSpPr>
      <p:sp>
        <p:nvSpPr>
          <p:cNvPr id="2" name="Shape 0"/>
          <p:cNvSpPr/>
          <p:nvPr/>
        </p:nvSpPr>
        <p:spPr>
          <a:xfrm>
            <a:off x="8869680" y="-1645920"/>
            <a:ext cx="4572000" cy="4572000"/>
          </a:xfrm>
          <a:prstGeom prst="ellipse">
            <a:avLst/>
          </a:prstGeom>
          <a:solidFill>
            <a:srgbClr val="13294B"/>
          </a:solidFill>
          <a:ln/>
        </p:spPr>
      </p:sp>
      <p:sp>
        <p:nvSpPr>
          <p:cNvPr id="3" name="Shape 1"/>
          <p:cNvSpPr/>
          <p:nvPr/>
        </p:nvSpPr>
        <p:spPr>
          <a:xfrm>
            <a:off x="9692640" y="-822960"/>
            <a:ext cx="2926080" cy="2926080"/>
          </a:xfrm>
          <a:prstGeom prst="ellipse">
            <a:avLst/>
          </a:prstGeom>
          <a:ln w="19050">
            <a:solidFill>
              <a:srgbClr val="2E5A9C"/>
            </a:solidFill>
            <a:prstDash val="solid"/>
          </a:ln>
        </p:spPr>
      </p:sp>
      <p:sp>
        <p:nvSpPr>
          <p:cNvPr id="4" name="Shape 2"/>
          <p:cNvSpPr/>
          <p:nvPr/>
        </p:nvSpPr>
        <p:spPr>
          <a:xfrm>
            <a:off x="10332720" y="-182880"/>
            <a:ext cx="1645920" cy="1645920"/>
          </a:xfrm>
          <a:prstGeom prst="ellipse">
            <a:avLst/>
          </a:prstGeom>
          <a:ln w="15875">
            <a:solidFill>
              <a:srgbClr val="E63946"/>
            </a:solidFill>
            <a:prstDash val="solid"/>
          </a:ln>
        </p:spPr>
      </p:sp>
      <p:sp>
        <p:nvSpPr>
          <p:cNvPr id="5" name="Text 3"/>
          <p:cNvSpPr txBox="1"/>
          <p:nvPr/>
        </p:nvSpPr>
        <p:spPr>
          <a:xfrm>
            <a:off x="822960" y="1737360"/>
            <a:ext cx="73152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MACHINE LEARNING PROJECT</a:t>
            </a:r>
            <a:endParaRPr lang="en-US" sz="1300" dirty="0"/>
          </a:p>
        </p:txBody>
      </p:sp>
      <p:sp>
        <p:nvSpPr>
          <p:cNvPr id="6" name="Text 4"/>
          <p:cNvSpPr txBox="1"/>
          <p:nvPr/>
        </p:nvSpPr>
        <p:spPr>
          <a:xfrm>
            <a:off x="777240" y="2148840"/>
            <a:ext cx="8686800" cy="192024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Credit Card Fraud</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Detection System</a:t>
            </a:r>
            <a:endParaRPr lang="en-US" sz="4400" dirty="0"/>
          </a:p>
        </p:txBody>
      </p:sp>
      <p:sp>
        <p:nvSpPr>
          <p:cNvPr id="7" name="Text 5"/>
          <p:cNvSpPr txBox="1"/>
          <p:nvPr/>
        </p:nvSpPr>
        <p:spPr>
          <a:xfrm>
            <a:off x="822960" y="4069080"/>
            <a:ext cx="7498080" cy="822960"/>
          </a:xfrm>
          <a:prstGeom prst="rect">
            <a:avLst/>
          </a:prstGeom>
          <a:noFill/>
          <a:ln/>
        </p:spPr>
        <p:txBody>
          <a:bodyPr wrap="square" lIns="0" tIns="0" rIns="0" bIns="0" rtlCol="0" anchor="ctr"/>
          <a:lstStyle/>
          <a:p>
            <a:pPr marL="0" indent="0">
              <a:lnSpc>
                <a:spcPct val="120000"/>
              </a:lnSpc>
              <a:buNone/>
            </a:pPr>
            <a:r>
              <a:rPr lang="en-US" sz="1500" dirty="0">
                <a:solidFill>
                  <a:srgbClr val="AFC6E9"/>
                </a:solidFill>
                <a:latin typeface="Calibri" pitchFamily="34" charset="0"/>
                <a:ea typeface="Calibri" pitchFamily="34" charset="-122"/>
                <a:cs typeface="Calibri" pitchFamily="34" charset="-120"/>
              </a:rPr>
              <a:t>A hybrid approach combining Logistic Regression and Isolation Forest to identify suspicious transactions and strengthen financial security.</a:t>
            </a:r>
            <a:endParaRPr lang="en-US" sz="1500" dirty="0"/>
          </a:p>
        </p:txBody>
      </p:sp>
      <p:sp>
        <p:nvSpPr>
          <p:cNvPr id="8" name="Shape 6"/>
          <p:cNvSpPr/>
          <p:nvPr/>
        </p:nvSpPr>
        <p:spPr>
          <a:xfrm>
            <a:off x="822960" y="5806440"/>
            <a:ext cx="1856232" cy="384048"/>
          </a:xfrm>
          <a:prstGeom prst="roundRect">
            <a:avLst>
              <a:gd name="adj" fmla="val 19048"/>
            </a:avLst>
          </a:prstGeom>
          <a:solidFill>
            <a:srgbClr val="13294B"/>
          </a:solidFill>
          <a:ln w="9525">
            <a:solidFill>
              <a:srgbClr val="2E5A9C"/>
            </a:solidFill>
            <a:prstDash val="solid"/>
          </a:ln>
        </p:spPr>
      </p:sp>
      <p:sp>
        <p:nvSpPr>
          <p:cNvPr id="9" name="Text 7"/>
          <p:cNvSpPr txBox="1"/>
          <p:nvPr/>
        </p:nvSpPr>
        <p:spPr>
          <a:xfrm>
            <a:off x="822960" y="5806440"/>
            <a:ext cx="185623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Problem Definition</a:t>
            </a:r>
            <a:endParaRPr lang="en-US" sz="1050" dirty="0"/>
          </a:p>
        </p:txBody>
      </p:sp>
      <p:sp>
        <p:nvSpPr>
          <p:cNvPr id="10" name="Shape 8"/>
          <p:cNvSpPr/>
          <p:nvPr/>
        </p:nvSpPr>
        <p:spPr>
          <a:xfrm>
            <a:off x="2862072" y="5806440"/>
            <a:ext cx="1421892" cy="384048"/>
          </a:xfrm>
          <a:prstGeom prst="roundRect">
            <a:avLst>
              <a:gd name="adj" fmla="val 19048"/>
            </a:avLst>
          </a:prstGeom>
          <a:solidFill>
            <a:srgbClr val="13294B"/>
          </a:solidFill>
          <a:ln w="9525">
            <a:solidFill>
              <a:srgbClr val="2E5A9C"/>
            </a:solidFill>
            <a:prstDash val="solid"/>
          </a:ln>
        </p:spPr>
      </p:sp>
      <p:sp>
        <p:nvSpPr>
          <p:cNvPr id="11" name="Text 9"/>
          <p:cNvSpPr txBox="1"/>
          <p:nvPr/>
        </p:nvSpPr>
        <p:spPr>
          <a:xfrm>
            <a:off x="2862072" y="5806440"/>
            <a:ext cx="142189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Dataset &amp; EDA</a:t>
            </a:r>
            <a:endParaRPr lang="en-US" sz="1050" dirty="0"/>
          </a:p>
        </p:txBody>
      </p:sp>
      <p:sp>
        <p:nvSpPr>
          <p:cNvPr id="12" name="Shape 10"/>
          <p:cNvSpPr/>
          <p:nvPr/>
        </p:nvSpPr>
        <p:spPr>
          <a:xfrm>
            <a:off x="4466844" y="5806440"/>
            <a:ext cx="1421892" cy="384048"/>
          </a:xfrm>
          <a:prstGeom prst="roundRect">
            <a:avLst>
              <a:gd name="adj" fmla="val 19048"/>
            </a:avLst>
          </a:prstGeom>
          <a:solidFill>
            <a:srgbClr val="13294B"/>
          </a:solidFill>
          <a:ln w="9525">
            <a:solidFill>
              <a:srgbClr val="2E5A9C"/>
            </a:solidFill>
            <a:prstDash val="solid"/>
          </a:ln>
        </p:spPr>
      </p:sp>
      <p:sp>
        <p:nvSpPr>
          <p:cNvPr id="13" name="Text 11"/>
          <p:cNvSpPr txBox="1"/>
          <p:nvPr/>
        </p:nvSpPr>
        <p:spPr>
          <a:xfrm>
            <a:off x="4466844" y="5806440"/>
            <a:ext cx="142189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Preprocessing</a:t>
            </a:r>
            <a:endParaRPr lang="en-US" sz="1050" dirty="0"/>
          </a:p>
        </p:txBody>
      </p:sp>
      <p:sp>
        <p:nvSpPr>
          <p:cNvPr id="14" name="Shape 12"/>
          <p:cNvSpPr/>
          <p:nvPr/>
        </p:nvSpPr>
        <p:spPr>
          <a:xfrm>
            <a:off x="6071616" y="5806440"/>
            <a:ext cx="987552" cy="384048"/>
          </a:xfrm>
          <a:prstGeom prst="roundRect">
            <a:avLst>
              <a:gd name="adj" fmla="val 19048"/>
            </a:avLst>
          </a:prstGeom>
          <a:solidFill>
            <a:srgbClr val="13294B"/>
          </a:solidFill>
          <a:ln w="9525">
            <a:solidFill>
              <a:srgbClr val="2E5A9C"/>
            </a:solidFill>
            <a:prstDash val="solid"/>
          </a:ln>
        </p:spPr>
      </p:sp>
      <p:sp>
        <p:nvSpPr>
          <p:cNvPr id="15" name="Text 13"/>
          <p:cNvSpPr txBox="1"/>
          <p:nvPr/>
        </p:nvSpPr>
        <p:spPr>
          <a:xfrm>
            <a:off x="6071616" y="5806440"/>
            <a:ext cx="987552" cy="384048"/>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Modeling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PROBLEM DEFINITION</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What We're Solving, and Why It Matters</a:t>
            </a:r>
            <a:endParaRPr lang="en-US" sz="2800" dirty="0"/>
          </a:p>
        </p:txBody>
      </p:sp>
      <p:sp>
        <p:nvSpPr>
          <p:cNvPr id="4" name="Shape 2"/>
          <p:cNvSpPr/>
          <p:nvPr/>
        </p:nvSpPr>
        <p:spPr>
          <a:xfrm>
            <a:off x="594360" y="1783080"/>
            <a:ext cx="5166360" cy="1965960"/>
          </a:xfrm>
          <a:prstGeom prst="roundRect">
            <a:avLst>
              <a:gd name="adj" fmla="val 3721"/>
            </a:avLst>
          </a:prstGeom>
          <a:solidFill>
            <a:srgbClr val="FFFFFF"/>
          </a:solidFill>
          <a:ln w="12700">
            <a:solidFill>
              <a:srgbClr val="DDE3ED"/>
            </a:solidFill>
            <a:prstDash val="solid"/>
          </a:ln>
          <a:effectLst>
            <a:outerShdw blurRad="101600" dist="38100" dir="5400000" algn="bl" rotWithShape="0">
              <a:srgbClr val="1B2A41">
                <a:alpha val="12000"/>
              </a:srgbClr>
            </a:outerShdw>
          </a:effectLst>
        </p:spPr>
      </p:sp>
      <p:sp>
        <p:nvSpPr>
          <p:cNvPr id="5" name="Shape 3"/>
          <p:cNvSpPr/>
          <p:nvPr/>
        </p:nvSpPr>
        <p:spPr>
          <a:xfrm>
            <a:off x="868680" y="2057400"/>
            <a:ext cx="411480" cy="411480"/>
          </a:xfrm>
          <a:prstGeom prst="roundRect">
            <a:avLst>
              <a:gd name="adj" fmla="val 15556"/>
            </a:avLst>
          </a:prstGeom>
          <a:solidFill>
            <a:srgbClr val="E63946"/>
          </a:solidFill>
          <a:ln/>
        </p:spPr>
      </p:sp>
      <p:sp>
        <p:nvSpPr>
          <p:cNvPr id="6" name="Text 4"/>
          <p:cNvSpPr txBox="1"/>
          <p:nvPr/>
        </p:nvSpPr>
        <p:spPr>
          <a:xfrm>
            <a:off x="868680" y="20574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868680" y="260604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What problem are we solving?</a:t>
            </a:r>
            <a:endParaRPr lang="en-US" sz="1450" dirty="0"/>
          </a:p>
        </p:txBody>
      </p:sp>
      <p:sp>
        <p:nvSpPr>
          <p:cNvPr id="8" name="Text 6"/>
          <p:cNvSpPr txBox="1"/>
          <p:nvPr/>
        </p:nvSpPr>
        <p:spPr>
          <a:xfrm>
            <a:off x="868680" y="301752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Identifying fraudulent credit card transactions in real time, separating them from the overwhelming majority of legitimate purchases.</a:t>
            </a:r>
            <a:endParaRPr lang="en-US" sz="1150" dirty="0"/>
          </a:p>
        </p:txBody>
      </p:sp>
      <p:sp>
        <p:nvSpPr>
          <p:cNvPr id="9" name="Shape 7"/>
          <p:cNvSpPr/>
          <p:nvPr/>
        </p:nvSpPr>
        <p:spPr>
          <a:xfrm>
            <a:off x="594360" y="4023360"/>
            <a:ext cx="5166360" cy="1965960"/>
          </a:xfrm>
          <a:prstGeom prst="roundRect">
            <a:avLst>
              <a:gd name="adj" fmla="val 3721"/>
            </a:avLst>
          </a:prstGeom>
          <a:solidFill>
            <a:srgbClr val="FFFFFF"/>
          </a:solidFill>
          <a:ln w="12700">
            <a:solidFill>
              <a:srgbClr val="DDE3ED"/>
            </a:solidFill>
            <a:prstDash val="solid"/>
          </a:ln>
          <a:effectLst>
            <a:outerShdw blurRad="1290320000" dist="483870000" algn="bl" rotWithShape="0">
              <a:srgbClr val="1B2A41">
                <a:alpha val="0"/>
              </a:srgbClr>
            </a:outerShdw>
          </a:effectLst>
        </p:spPr>
      </p:sp>
      <p:sp>
        <p:nvSpPr>
          <p:cNvPr id="10" name="Shape 8"/>
          <p:cNvSpPr/>
          <p:nvPr/>
        </p:nvSpPr>
        <p:spPr>
          <a:xfrm>
            <a:off x="868680" y="4297680"/>
            <a:ext cx="411480" cy="411480"/>
          </a:xfrm>
          <a:prstGeom prst="roundRect">
            <a:avLst>
              <a:gd name="adj" fmla="val 15556"/>
            </a:avLst>
          </a:prstGeom>
          <a:solidFill>
            <a:srgbClr val="E63946"/>
          </a:solidFill>
          <a:ln/>
        </p:spPr>
      </p:sp>
      <p:sp>
        <p:nvSpPr>
          <p:cNvPr id="11" name="Text 9"/>
          <p:cNvSpPr txBox="1"/>
          <p:nvPr/>
        </p:nvSpPr>
        <p:spPr>
          <a:xfrm>
            <a:off x="868680" y="42976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868680" y="484632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Why is this problem important?</a:t>
            </a:r>
            <a:endParaRPr lang="en-US" sz="1450" dirty="0"/>
          </a:p>
        </p:txBody>
      </p:sp>
      <p:sp>
        <p:nvSpPr>
          <p:cNvPr id="13" name="Text 11"/>
          <p:cNvSpPr txBox="1"/>
          <p:nvPr/>
        </p:nvSpPr>
        <p:spPr>
          <a:xfrm>
            <a:off x="868680" y="525780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Fraud causes direct monetary losses for banks and cardholders, and undetected fraud erodes trust in digital payment systems.</a:t>
            </a:r>
            <a:endParaRPr lang="en-US" sz="1150" dirty="0"/>
          </a:p>
        </p:txBody>
      </p:sp>
      <p:sp>
        <p:nvSpPr>
          <p:cNvPr id="14" name="Shape 12"/>
          <p:cNvSpPr/>
          <p:nvPr/>
        </p:nvSpPr>
        <p:spPr>
          <a:xfrm>
            <a:off x="6263640" y="1783080"/>
            <a:ext cx="5166360" cy="1965960"/>
          </a:xfrm>
          <a:prstGeom prst="roundRect">
            <a:avLst>
              <a:gd name="adj" fmla="val 3721"/>
            </a:avLst>
          </a:prstGeom>
          <a:solidFill>
            <a:srgbClr val="FFFFFF"/>
          </a:solidFill>
          <a:ln w="12700">
            <a:solidFill>
              <a:srgbClr val="DDE3ED"/>
            </a:solidFill>
            <a:prstDash val="solid"/>
          </a:ln>
          <a:effectLst>
            <a:outerShdw algn="bl" rotWithShape="0">
              <a:srgbClr val="1B2A41">
                <a:alpha val="0"/>
              </a:srgbClr>
            </a:outerShdw>
          </a:effectLst>
        </p:spPr>
      </p:sp>
      <p:sp>
        <p:nvSpPr>
          <p:cNvPr id="15" name="Shape 13"/>
          <p:cNvSpPr/>
          <p:nvPr/>
        </p:nvSpPr>
        <p:spPr>
          <a:xfrm>
            <a:off x="6537960" y="2057400"/>
            <a:ext cx="411480" cy="411480"/>
          </a:xfrm>
          <a:prstGeom prst="roundRect">
            <a:avLst>
              <a:gd name="adj" fmla="val 15556"/>
            </a:avLst>
          </a:prstGeom>
          <a:solidFill>
            <a:srgbClr val="E63946"/>
          </a:solidFill>
          <a:ln/>
        </p:spPr>
      </p:sp>
      <p:sp>
        <p:nvSpPr>
          <p:cNvPr id="16" name="Text 14"/>
          <p:cNvSpPr txBox="1"/>
          <p:nvPr/>
        </p:nvSpPr>
        <p:spPr>
          <a:xfrm>
            <a:off x="6537960" y="20574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6537960" y="260604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Who will use the solution?</a:t>
            </a:r>
            <a:endParaRPr lang="en-US" sz="1450" dirty="0"/>
          </a:p>
        </p:txBody>
      </p:sp>
      <p:sp>
        <p:nvSpPr>
          <p:cNvPr id="18" name="Text 16"/>
          <p:cNvSpPr txBox="1"/>
          <p:nvPr/>
        </p:nvSpPr>
        <p:spPr>
          <a:xfrm>
            <a:off x="6537960" y="301752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Banks, payment processors, and fraud-risk teams who need to flag suspicious transactions before funds are lost.</a:t>
            </a:r>
            <a:endParaRPr lang="en-US" sz="1150" dirty="0"/>
          </a:p>
        </p:txBody>
      </p:sp>
      <p:sp>
        <p:nvSpPr>
          <p:cNvPr id="19" name="Shape 17"/>
          <p:cNvSpPr/>
          <p:nvPr/>
        </p:nvSpPr>
        <p:spPr>
          <a:xfrm>
            <a:off x="6263640" y="4023360"/>
            <a:ext cx="5166360" cy="1965960"/>
          </a:xfrm>
          <a:prstGeom prst="roundRect">
            <a:avLst>
              <a:gd name="adj" fmla="val 3721"/>
            </a:avLst>
          </a:prstGeom>
          <a:solidFill>
            <a:srgbClr val="FFFFFF"/>
          </a:solidFill>
          <a:ln w="12700">
            <a:solidFill>
              <a:srgbClr val="DDE3ED"/>
            </a:solidFill>
            <a:prstDash val="solid"/>
          </a:ln>
          <a:effectLst>
            <a:outerShdw algn="bl" rotWithShape="0">
              <a:srgbClr val="1B2A41">
                <a:alpha val="0"/>
              </a:srgbClr>
            </a:outerShdw>
          </a:effectLst>
        </p:spPr>
      </p:sp>
      <p:sp>
        <p:nvSpPr>
          <p:cNvPr id="20" name="Shape 18"/>
          <p:cNvSpPr/>
          <p:nvPr/>
        </p:nvSpPr>
        <p:spPr>
          <a:xfrm>
            <a:off x="6537960" y="4297680"/>
            <a:ext cx="411480" cy="411480"/>
          </a:xfrm>
          <a:prstGeom prst="roundRect">
            <a:avLst>
              <a:gd name="adj" fmla="val 15556"/>
            </a:avLst>
          </a:prstGeom>
          <a:solidFill>
            <a:srgbClr val="E63946"/>
          </a:solidFill>
          <a:ln/>
        </p:spPr>
      </p:sp>
      <p:sp>
        <p:nvSpPr>
          <p:cNvPr id="21" name="Text 19"/>
          <p:cNvSpPr txBox="1"/>
          <p:nvPr/>
        </p:nvSpPr>
        <p:spPr>
          <a:xfrm>
            <a:off x="6537960" y="42976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6537960" y="4846320"/>
            <a:ext cx="4617720" cy="45720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What is the expected output?</a:t>
            </a:r>
            <a:endParaRPr lang="en-US" sz="1450" dirty="0"/>
          </a:p>
        </p:txBody>
      </p:sp>
      <p:sp>
        <p:nvSpPr>
          <p:cNvPr id="23" name="Text 21"/>
          <p:cNvSpPr txBox="1"/>
          <p:nvPr/>
        </p:nvSpPr>
        <p:spPr>
          <a:xfrm>
            <a:off x="6537960" y="5257800"/>
            <a:ext cx="4617720" cy="640080"/>
          </a:xfrm>
          <a:prstGeom prst="rect">
            <a:avLst/>
          </a:prstGeom>
          <a:noFill/>
          <a:ln/>
        </p:spPr>
        <p:txBody>
          <a:bodyPr wrap="square" lIns="0" tIns="0" rIns="0" bIns="0" rtlCol="0" anchor="ctr"/>
          <a:lstStyle/>
          <a:p>
            <a:pPr marL="0" indent="0">
              <a:lnSpc>
                <a:spcPct val="125000"/>
              </a:lnSpc>
              <a:buNone/>
            </a:pPr>
            <a:r>
              <a:rPr lang="en-US" sz="1150" dirty="0">
                <a:solidFill>
                  <a:srgbClr val="6B7688"/>
                </a:solidFill>
                <a:latin typeface="Calibri" pitchFamily="34" charset="0"/>
                <a:ea typeface="Calibri" pitchFamily="34" charset="-122"/>
                <a:cs typeface="Calibri" pitchFamily="34" charset="-120"/>
              </a:rPr>
              <a:t>For each transaction, a classification — legitimate or fraudulent — plus an anomaly score highlighting unusual behavior.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ABSTRACT</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Project Overview</a:t>
            </a:r>
            <a:endParaRPr lang="en-US" sz="2800" dirty="0"/>
          </a:p>
        </p:txBody>
      </p:sp>
      <p:sp>
        <p:nvSpPr>
          <p:cNvPr id="4" name="Shape 2"/>
          <p:cNvSpPr/>
          <p:nvPr/>
        </p:nvSpPr>
        <p:spPr>
          <a:xfrm>
            <a:off x="594360" y="1600200"/>
            <a:ext cx="6537960" cy="4572000"/>
          </a:xfrm>
          <a:prstGeom prst="roundRect">
            <a:avLst>
              <a:gd name="adj" fmla="val 1600"/>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914400" y="1874520"/>
            <a:ext cx="5897880" cy="4069080"/>
          </a:xfrm>
          <a:prstGeom prst="rect">
            <a:avLst/>
          </a:prstGeom>
          <a:noFill/>
          <a:ln/>
        </p:spPr>
        <p:txBody>
          <a:bodyPr wrap="square" lIns="0" tIns="0" rIns="0" bIns="0" rtlCol="0" anchor="ctr"/>
          <a:lstStyle/>
          <a:p>
            <a:pPr marL="0" indent="0">
              <a:lnSpc>
                <a:spcPct val="132000"/>
              </a:lnSpc>
              <a:buNone/>
            </a:pPr>
            <a:r>
              <a:rPr lang="en-US" sz="1250" dirty="0">
                <a:solidFill>
                  <a:srgbClr val="3C4858"/>
                </a:solidFill>
                <a:latin typeface="Calibri" pitchFamily="34" charset="0"/>
                <a:ea typeface="Calibri" pitchFamily="34" charset="-122"/>
                <a:cs typeface="Calibri" pitchFamily="34" charset="-120"/>
              </a:rPr>
              <a:t>Credit card fraud is a major financial security problem that can cause significant monetary losses for both customers and financial institutions. This project presents a machine learning-based Credit Card Fraud Detection System using Logistic Regression and Isolation Forest anomaly detection techniques. Logistic Regression is used as a supervised classification model to identify transactions as legitimate or fraudulent based on patterns learned from historical transaction data. Isolation Forest is applied as an unsupervised anomaly detection method to identify unusual transactions that significantly differ from normal transaction behavior. The dataset is preprocessed by handling missing values, scaling numerical features, and addressing the highly imbalanced nature of fraud detection data. The performance of the models is evaluated using metrics such as accuracy, precision, recall, F1-score, confusion matrix, and ROC-AUC. By combining supervised classification with anomaly detection, the proposed system aims to improve the identification of suspicious transactions and provide a more reliable approach to detecting credit card fraud. This project demonstrates how machine learning can be effectively applied to enhance financial transaction security and reduce fraudulent losses.</a:t>
            </a:r>
            <a:endParaRPr lang="en-US" sz="1250" dirty="0"/>
          </a:p>
        </p:txBody>
      </p:sp>
      <p:sp>
        <p:nvSpPr>
          <p:cNvPr id="6" name="Text 4"/>
          <p:cNvSpPr txBox="1"/>
          <p:nvPr/>
        </p:nvSpPr>
        <p:spPr>
          <a:xfrm>
            <a:off x="7406640" y="1600200"/>
            <a:ext cx="3703320" cy="32004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Core Techniques</a:t>
            </a:r>
            <a:endParaRPr lang="en-US" sz="1300" dirty="0"/>
          </a:p>
        </p:txBody>
      </p:sp>
      <p:sp>
        <p:nvSpPr>
          <p:cNvPr id="7" name="Shape 5"/>
          <p:cNvSpPr/>
          <p:nvPr/>
        </p:nvSpPr>
        <p:spPr>
          <a:xfrm>
            <a:off x="7406640" y="2011680"/>
            <a:ext cx="3703320" cy="960120"/>
          </a:xfrm>
          <a:prstGeom prst="roundRect">
            <a:avLst>
              <a:gd name="adj" fmla="val 6667"/>
            </a:avLst>
          </a:prstGeom>
          <a:solidFill>
            <a:srgbClr val="0B1B33"/>
          </a:solidFill>
          <a:ln/>
        </p:spPr>
      </p:sp>
      <p:sp>
        <p:nvSpPr>
          <p:cNvPr id="8" name="Text 6"/>
          <p:cNvSpPr txBox="1"/>
          <p:nvPr/>
        </p:nvSpPr>
        <p:spPr>
          <a:xfrm>
            <a:off x="7635240" y="2103120"/>
            <a:ext cx="32918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9" name="Text 7"/>
          <p:cNvSpPr txBox="1"/>
          <p:nvPr/>
        </p:nvSpPr>
        <p:spPr>
          <a:xfrm>
            <a:off x="7635240" y="2432304"/>
            <a:ext cx="3291840" cy="502920"/>
          </a:xfrm>
          <a:prstGeom prst="rect">
            <a:avLst/>
          </a:prstGeom>
          <a:noFill/>
          <a:ln/>
        </p:spPr>
        <p:txBody>
          <a:bodyPr wrap="square" lIns="0" tIns="0" rIns="0" bIns="0" rtlCol="0" anchor="ctr"/>
          <a:lstStyle/>
          <a:p>
            <a:pPr marL="0" indent="0">
              <a:lnSpc>
                <a:spcPct val="120000"/>
              </a:lnSpc>
              <a:buNone/>
            </a:pPr>
            <a:r>
              <a:rPr lang="en-US" sz="1050" dirty="0">
                <a:solidFill>
                  <a:srgbClr val="AFC6E9"/>
                </a:solidFill>
                <a:latin typeface="Calibri" pitchFamily="34" charset="0"/>
                <a:ea typeface="Calibri" pitchFamily="34" charset="-122"/>
                <a:cs typeface="Calibri" pitchFamily="34" charset="-120"/>
              </a:rPr>
              <a:t>Supervised classification of legitimate vs. fraudulent transactions</a:t>
            </a:r>
            <a:endParaRPr lang="en-US" sz="1050" dirty="0"/>
          </a:p>
        </p:txBody>
      </p:sp>
      <p:sp>
        <p:nvSpPr>
          <p:cNvPr id="10" name="Shape 8"/>
          <p:cNvSpPr/>
          <p:nvPr/>
        </p:nvSpPr>
        <p:spPr>
          <a:xfrm>
            <a:off x="7406640" y="3154680"/>
            <a:ext cx="3703320" cy="960120"/>
          </a:xfrm>
          <a:prstGeom prst="roundRect">
            <a:avLst>
              <a:gd name="adj" fmla="val 6667"/>
            </a:avLst>
          </a:prstGeom>
          <a:solidFill>
            <a:srgbClr val="0B1B33"/>
          </a:solidFill>
          <a:ln/>
        </p:spPr>
      </p:sp>
      <p:sp>
        <p:nvSpPr>
          <p:cNvPr id="11" name="Text 9"/>
          <p:cNvSpPr txBox="1"/>
          <p:nvPr/>
        </p:nvSpPr>
        <p:spPr>
          <a:xfrm>
            <a:off x="7635240" y="3246120"/>
            <a:ext cx="32918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Isolation Forest</a:t>
            </a:r>
            <a:endParaRPr lang="en-US" sz="1300" dirty="0"/>
          </a:p>
        </p:txBody>
      </p:sp>
      <p:sp>
        <p:nvSpPr>
          <p:cNvPr id="12" name="Text 10"/>
          <p:cNvSpPr txBox="1"/>
          <p:nvPr/>
        </p:nvSpPr>
        <p:spPr>
          <a:xfrm>
            <a:off x="7635240" y="3575304"/>
            <a:ext cx="3291840" cy="502920"/>
          </a:xfrm>
          <a:prstGeom prst="rect">
            <a:avLst/>
          </a:prstGeom>
          <a:noFill/>
          <a:ln/>
        </p:spPr>
        <p:txBody>
          <a:bodyPr wrap="square" lIns="0" tIns="0" rIns="0" bIns="0" rtlCol="0" anchor="ctr"/>
          <a:lstStyle/>
          <a:p>
            <a:pPr marL="0" indent="0">
              <a:lnSpc>
                <a:spcPct val="120000"/>
              </a:lnSpc>
              <a:buNone/>
            </a:pPr>
            <a:r>
              <a:rPr lang="en-US" sz="1050" dirty="0">
                <a:solidFill>
                  <a:srgbClr val="AFC6E9"/>
                </a:solidFill>
                <a:latin typeface="Calibri" pitchFamily="34" charset="0"/>
                <a:ea typeface="Calibri" pitchFamily="34" charset="-122"/>
                <a:cs typeface="Calibri" pitchFamily="34" charset="-120"/>
              </a:rPr>
              <a:t>Unsupervised detection of anomalous transaction behavior</a:t>
            </a:r>
            <a:endParaRPr lang="en-US" sz="1050" dirty="0"/>
          </a:p>
        </p:txBody>
      </p:sp>
      <p:sp>
        <p:nvSpPr>
          <p:cNvPr id="13" name="Text 11"/>
          <p:cNvSpPr txBox="1"/>
          <p:nvPr/>
        </p:nvSpPr>
        <p:spPr>
          <a:xfrm>
            <a:off x="7406640" y="4434840"/>
            <a:ext cx="3703320" cy="32004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Evaluation Metrics</a:t>
            </a:r>
            <a:endParaRPr lang="en-US" sz="1300" dirty="0"/>
          </a:p>
        </p:txBody>
      </p:sp>
      <p:sp>
        <p:nvSpPr>
          <p:cNvPr id="14" name="Shape 12"/>
          <p:cNvSpPr/>
          <p:nvPr/>
        </p:nvSpPr>
        <p:spPr>
          <a:xfrm>
            <a:off x="7406640" y="4828032"/>
            <a:ext cx="874166" cy="384048"/>
          </a:xfrm>
          <a:prstGeom prst="roundRect">
            <a:avLst>
              <a:gd name="adj" fmla="val 50000"/>
            </a:avLst>
          </a:prstGeom>
          <a:solidFill>
            <a:srgbClr val="F4F6FA"/>
          </a:solidFill>
          <a:ln w="12700">
            <a:solidFill>
              <a:srgbClr val="2E5A9C"/>
            </a:solidFill>
            <a:prstDash val="solid"/>
          </a:ln>
        </p:spPr>
      </p:sp>
      <p:sp>
        <p:nvSpPr>
          <p:cNvPr id="15" name="Text 13"/>
          <p:cNvSpPr txBox="1"/>
          <p:nvPr/>
        </p:nvSpPr>
        <p:spPr>
          <a:xfrm>
            <a:off x="7406640" y="4828032"/>
            <a:ext cx="874166"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Accuracy</a:t>
            </a:r>
            <a:endParaRPr lang="en-US" sz="1000" dirty="0"/>
          </a:p>
        </p:txBody>
      </p:sp>
      <p:sp>
        <p:nvSpPr>
          <p:cNvPr id="16" name="Shape 14"/>
          <p:cNvSpPr/>
          <p:nvPr/>
        </p:nvSpPr>
        <p:spPr>
          <a:xfrm>
            <a:off x="8417966" y="4828032"/>
            <a:ext cx="949147" cy="384048"/>
          </a:xfrm>
          <a:prstGeom prst="roundRect">
            <a:avLst>
              <a:gd name="adj" fmla="val 50000"/>
            </a:avLst>
          </a:prstGeom>
          <a:solidFill>
            <a:srgbClr val="F4F6FA"/>
          </a:solidFill>
          <a:ln w="12700">
            <a:solidFill>
              <a:srgbClr val="2E5A9C"/>
            </a:solidFill>
            <a:prstDash val="solid"/>
          </a:ln>
        </p:spPr>
      </p:sp>
      <p:sp>
        <p:nvSpPr>
          <p:cNvPr id="17" name="Text 15"/>
          <p:cNvSpPr txBox="1"/>
          <p:nvPr/>
        </p:nvSpPr>
        <p:spPr>
          <a:xfrm>
            <a:off x="8417966" y="4828032"/>
            <a:ext cx="949147"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Precision</a:t>
            </a:r>
            <a:endParaRPr lang="en-US" sz="1000" dirty="0"/>
          </a:p>
        </p:txBody>
      </p:sp>
      <p:sp>
        <p:nvSpPr>
          <p:cNvPr id="18" name="Shape 16"/>
          <p:cNvSpPr/>
          <p:nvPr/>
        </p:nvSpPr>
        <p:spPr>
          <a:xfrm>
            <a:off x="9504274" y="4828032"/>
            <a:ext cx="724205" cy="384048"/>
          </a:xfrm>
          <a:prstGeom prst="roundRect">
            <a:avLst>
              <a:gd name="adj" fmla="val 50000"/>
            </a:avLst>
          </a:prstGeom>
          <a:solidFill>
            <a:srgbClr val="F4F6FA"/>
          </a:solidFill>
          <a:ln w="12700">
            <a:solidFill>
              <a:srgbClr val="2E5A9C"/>
            </a:solidFill>
            <a:prstDash val="solid"/>
          </a:ln>
        </p:spPr>
      </p:sp>
      <p:sp>
        <p:nvSpPr>
          <p:cNvPr id="19" name="Text 17"/>
          <p:cNvSpPr txBox="1"/>
          <p:nvPr/>
        </p:nvSpPr>
        <p:spPr>
          <a:xfrm>
            <a:off x="9504274" y="4828032"/>
            <a:ext cx="724205"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Recall</a:t>
            </a:r>
            <a:endParaRPr lang="en-US" sz="1000" dirty="0"/>
          </a:p>
        </p:txBody>
      </p:sp>
      <p:sp>
        <p:nvSpPr>
          <p:cNvPr id="20" name="Shape 18"/>
          <p:cNvSpPr/>
          <p:nvPr/>
        </p:nvSpPr>
        <p:spPr>
          <a:xfrm>
            <a:off x="7406640" y="5321808"/>
            <a:ext cx="874166" cy="384048"/>
          </a:xfrm>
          <a:prstGeom prst="roundRect">
            <a:avLst>
              <a:gd name="adj" fmla="val 50000"/>
            </a:avLst>
          </a:prstGeom>
          <a:solidFill>
            <a:srgbClr val="F4F6FA"/>
          </a:solidFill>
          <a:ln w="12700">
            <a:solidFill>
              <a:srgbClr val="2E5A9C"/>
            </a:solidFill>
            <a:prstDash val="solid"/>
          </a:ln>
        </p:spPr>
      </p:sp>
      <p:sp>
        <p:nvSpPr>
          <p:cNvPr id="21" name="Text 19"/>
          <p:cNvSpPr txBox="1"/>
          <p:nvPr/>
        </p:nvSpPr>
        <p:spPr>
          <a:xfrm>
            <a:off x="7406640" y="5321808"/>
            <a:ext cx="874166"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F1-Score</a:t>
            </a:r>
            <a:endParaRPr lang="en-US" sz="1000" dirty="0"/>
          </a:p>
        </p:txBody>
      </p:sp>
      <p:sp>
        <p:nvSpPr>
          <p:cNvPr id="22" name="Shape 20"/>
          <p:cNvSpPr/>
          <p:nvPr/>
        </p:nvSpPr>
        <p:spPr>
          <a:xfrm>
            <a:off x="8417966" y="5321808"/>
            <a:ext cx="1474013" cy="384048"/>
          </a:xfrm>
          <a:prstGeom prst="roundRect">
            <a:avLst>
              <a:gd name="adj" fmla="val 50000"/>
            </a:avLst>
          </a:prstGeom>
          <a:solidFill>
            <a:srgbClr val="F4F6FA"/>
          </a:solidFill>
          <a:ln w="12700">
            <a:solidFill>
              <a:srgbClr val="2E5A9C"/>
            </a:solidFill>
            <a:prstDash val="solid"/>
          </a:ln>
        </p:spPr>
      </p:sp>
      <p:sp>
        <p:nvSpPr>
          <p:cNvPr id="23" name="Text 21"/>
          <p:cNvSpPr txBox="1"/>
          <p:nvPr/>
        </p:nvSpPr>
        <p:spPr>
          <a:xfrm>
            <a:off x="8417966" y="5321808"/>
            <a:ext cx="1474013"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Confusion Matrix</a:t>
            </a:r>
            <a:endParaRPr lang="en-US" sz="1000" dirty="0"/>
          </a:p>
        </p:txBody>
      </p:sp>
      <p:sp>
        <p:nvSpPr>
          <p:cNvPr id="24" name="Shape 22"/>
          <p:cNvSpPr/>
          <p:nvPr/>
        </p:nvSpPr>
        <p:spPr>
          <a:xfrm>
            <a:off x="10029139" y="5321808"/>
            <a:ext cx="799186" cy="384048"/>
          </a:xfrm>
          <a:prstGeom prst="roundRect">
            <a:avLst>
              <a:gd name="adj" fmla="val 50000"/>
            </a:avLst>
          </a:prstGeom>
          <a:solidFill>
            <a:srgbClr val="F4F6FA"/>
          </a:solidFill>
          <a:ln w="12700">
            <a:solidFill>
              <a:srgbClr val="2E5A9C"/>
            </a:solidFill>
            <a:prstDash val="solid"/>
          </a:ln>
        </p:spPr>
      </p:sp>
      <p:sp>
        <p:nvSpPr>
          <p:cNvPr id="25" name="Text 23"/>
          <p:cNvSpPr txBox="1"/>
          <p:nvPr/>
        </p:nvSpPr>
        <p:spPr>
          <a:xfrm>
            <a:off x="10029139" y="5321808"/>
            <a:ext cx="799186" cy="384048"/>
          </a:xfrm>
          <a:prstGeom prst="rect">
            <a:avLst/>
          </a:prstGeom>
          <a:noFill/>
          <a:ln/>
        </p:spPr>
        <p:txBody>
          <a:bodyPr wrap="square" lIns="0" tIns="0" rIns="0" bIns="0" rtlCol="0" anchor="ctr"/>
          <a:lstStyle/>
          <a:p>
            <a:pPr marL="0" indent="0" algn="ctr">
              <a:buNone/>
            </a:pPr>
            <a:r>
              <a:rPr lang="en-US" sz="1000" b="1" dirty="0">
                <a:solidFill>
                  <a:srgbClr val="2E5A9C"/>
                </a:solidFill>
                <a:latin typeface="Calibri" pitchFamily="34" charset="0"/>
                <a:ea typeface="Calibri" pitchFamily="34" charset="-122"/>
                <a:cs typeface="Calibri" pitchFamily="34" charset="-120"/>
              </a:rPr>
              <a:t>ROC-AUC</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DATASET COLLECTION</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Sourcing and Understanding the Dataset</a:t>
            </a:r>
            <a:endParaRPr lang="en-US" sz="2800" dirty="0"/>
          </a:p>
        </p:txBody>
      </p:sp>
      <p:sp>
        <p:nvSpPr>
          <p:cNvPr id="4" name="Text 2"/>
          <p:cNvSpPr txBox="1"/>
          <p:nvPr/>
        </p:nvSpPr>
        <p:spPr>
          <a:xfrm>
            <a:off x="594360" y="1783080"/>
            <a:ext cx="5486400" cy="27432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Source</a:t>
            </a:r>
            <a:endParaRPr lang="en-US" sz="1300" dirty="0"/>
          </a:p>
        </p:txBody>
      </p:sp>
      <p:sp>
        <p:nvSpPr>
          <p:cNvPr id="5" name="Text 3"/>
          <p:cNvSpPr txBox="1"/>
          <p:nvPr/>
        </p:nvSpPr>
        <p:spPr>
          <a:xfrm>
            <a:off x="594360" y="2103120"/>
            <a:ext cx="5577840" cy="868680"/>
          </a:xfrm>
          <a:prstGeom prst="rect">
            <a:avLst/>
          </a:prstGeom>
          <a:noFill/>
          <a:ln/>
        </p:spPr>
        <p:txBody>
          <a:bodyPr wrap="square" lIns="0" tIns="0" rIns="0" bIns="0" rtlCol="0" anchor="ctr"/>
          <a:lstStyle/>
          <a:p>
            <a:pPr marL="0" indent="0">
              <a:lnSpc>
                <a:spcPct val="128000"/>
              </a:lnSpc>
              <a:buNone/>
            </a:pPr>
            <a:r>
              <a:rPr lang="en-US" sz="1250" dirty="0">
                <a:solidFill>
                  <a:srgbClr val="3C4858"/>
                </a:solidFill>
                <a:latin typeface="Calibri" pitchFamily="34" charset="0"/>
                <a:ea typeface="Calibri" pitchFamily="34" charset="-122"/>
                <a:cs typeface="Calibri" pitchFamily="34" charset="-120"/>
              </a:rPr>
              <a:t>Kaggle — “Credit Card Fraud Detection” dataset, released by the Machine Learning Group at ULB (Université Libre de Bruxelles). Downloaded as a single CSV file for offline analysis.</a:t>
            </a:r>
            <a:endParaRPr lang="en-US" sz="1250" dirty="0"/>
          </a:p>
        </p:txBody>
      </p:sp>
      <p:sp>
        <p:nvSpPr>
          <p:cNvPr id="6" name="Text 4"/>
          <p:cNvSpPr txBox="1"/>
          <p:nvPr/>
        </p:nvSpPr>
        <p:spPr>
          <a:xfrm>
            <a:off x="594360" y="3108960"/>
            <a:ext cx="5486400" cy="27432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Target / Output Column</a:t>
            </a:r>
            <a:endParaRPr lang="en-US" sz="1300" dirty="0"/>
          </a:p>
        </p:txBody>
      </p:sp>
      <p:sp>
        <p:nvSpPr>
          <p:cNvPr id="7" name="Text 5"/>
          <p:cNvSpPr txBox="1"/>
          <p:nvPr/>
        </p:nvSpPr>
        <p:spPr>
          <a:xfrm>
            <a:off x="594360" y="3429000"/>
            <a:ext cx="5577840" cy="685800"/>
          </a:xfrm>
          <a:prstGeom prst="rect">
            <a:avLst/>
          </a:prstGeom>
          <a:noFill/>
          <a:ln/>
        </p:spPr>
        <p:txBody>
          <a:bodyPr wrap="square" lIns="0" tIns="0" rIns="0" bIns="0" rtlCol="0" anchor="ctr"/>
          <a:lstStyle/>
          <a:p>
            <a:pPr marL="0" indent="0">
              <a:lnSpc>
                <a:spcPct val="128000"/>
              </a:lnSpc>
              <a:buNone/>
            </a:pPr>
            <a:r>
              <a:rPr lang="en-US" sz="1250" dirty="0">
                <a:solidFill>
                  <a:srgbClr val="3C4858"/>
                </a:solidFill>
                <a:latin typeface="Calibri" pitchFamily="34" charset="0"/>
                <a:ea typeface="Calibri" pitchFamily="34" charset="-122"/>
                <a:cs typeface="Calibri" pitchFamily="34" charset="-120"/>
              </a:rPr>
              <a:t>Class — a binary label: 0 for a legitimate transaction, 1 for a fraudulent one. This is the column the models are trained to predict.</a:t>
            </a:r>
            <a:endParaRPr lang="en-US" sz="1250" dirty="0"/>
          </a:p>
        </p:txBody>
      </p:sp>
      <p:sp>
        <p:nvSpPr>
          <p:cNvPr id="8" name="Text 6"/>
          <p:cNvSpPr txBox="1"/>
          <p:nvPr/>
        </p:nvSpPr>
        <p:spPr>
          <a:xfrm>
            <a:off x="594360" y="4251960"/>
            <a:ext cx="5486400" cy="27432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Feature Columns</a:t>
            </a:r>
            <a:endParaRPr lang="en-US" sz="1300" dirty="0"/>
          </a:p>
        </p:txBody>
      </p:sp>
      <p:sp>
        <p:nvSpPr>
          <p:cNvPr id="9" name="Text 7"/>
          <p:cNvSpPr txBox="1"/>
          <p:nvPr/>
        </p:nvSpPr>
        <p:spPr>
          <a:xfrm>
            <a:off x="594360" y="4572000"/>
            <a:ext cx="5577840" cy="822960"/>
          </a:xfrm>
          <a:prstGeom prst="rect">
            <a:avLst/>
          </a:prstGeom>
          <a:noFill/>
          <a:ln/>
        </p:spPr>
        <p:txBody>
          <a:bodyPr wrap="square" lIns="0" tIns="0" rIns="0" bIns="0" rtlCol="0" anchor="ctr"/>
          <a:lstStyle/>
          <a:p>
            <a:pPr marL="0" indent="0">
              <a:lnSpc>
                <a:spcPct val="128000"/>
              </a:lnSpc>
              <a:buNone/>
            </a:pPr>
            <a:r>
              <a:rPr lang="en-US" sz="1250" dirty="0">
                <a:solidFill>
                  <a:srgbClr val="3C4858"/>
                </a:solidFill>
                <a:latin typeface="Calibri" pitchFamily="34" charset="0"/>
                <a:ea typeface="Calibri" pitchFamily="34" charset="-122"/>
                <a:cs typeface="Calibri" pitchFamily="34" charset="-120"/>
              </a:rPr>
              <a:t>Time and Amount describe the raw transaction, while V1–V28 are anonymized, PCA-transformed features protecting cardholder privacy.</a:t>
            </a:r>
            <a:endParaRPr lang="en-US" sz="1250" dirty="0"/>
          </a:p>
        </p:txBody>
      </p:sp>
      <p:sp>
        <p:nvSpPr>
          <p:cNvPr id="10" name="Shape 8"/>
          <p:cNvSpPr/>
          <p:nvPr/>
        </p:nvSpPr>
        <p:spPr>
          <a:xfrm>
            <a:off x="6537960" y="1783080"/>
            <a:ext cx="5029200" cy="4343400"/>
          </a:xfrm>
          <a:prstGeom prst="roundRect">
            <a:avLst>
              <a:gd name="adj" fmla="val 1684"/>
            </a:avLst>
          </a:prstGeom>
          <a:solidFill>
            <a:srgbClr val="0B1B33"/>
          </a:solidFill>
          <a:ln/>
        </p:spPr>
      </p:sp>
      <p:sp>
        <p:nvSpPr>
          <p:cNvPr id="11" name="Text 9"/>
          <p:cNvSpPr txBox="1"/>
          <p:nvPr/>
        </p:nvSpPr>
        <p:spPr>
          <a:xfrm>
            <a:off x="6858000" y="2011680"/>
            <a:ext cx="43891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Dataset Schema</a:t>
            </a:r>
            <a:endParaRPr lang="en-US" sz="1300" dirty="0"/>
          </a:p>
        </p:txBody>
      </p:sp>
      <p:sp>
        <p:nvSpPr>
          <p:cNvPr id="12" name="Shape 10"/>
          <p:cNvSpPr/>
          <p:nvPr/>
        </p:nvSpPr>
        <p:spPr>
          <a:xfrm>
            <a:off x="6858000" y="2423160"/>
            <a:ext cx="1417320" cy="457200"/>
          </a:xfrm>
          <a:prstGeom prst="roundRect">
            <a:avLst>
              <a:gd name="adj" fmla="val 12000"/>
            </a:avLst>
          </a:prstGeom>
          <a:solidFill>
            <a:srgbClr val="13294B"/>
          </a:solidFill>
          <a:ln/>
        </p:spPr>
      </p:sp>
      <p:sp>
        <p:nvSpPr>
          <p:cNvPr id="13" name="Text 11"/>
          <p:cNvSpPr txBox="1"/>
          <p:nvPr/>
        </p:nvSpPr>
        <p:spPr>
          <a:xfrm>
            <a:off x="6858000" y="2423160"/>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Time</a:t>
            </a:r>
            <a:endParaRPr lang="en-US" sz="1050" dirty="0"/>
          </a:p>
        </p:txBody>
      </p:sp>
      <p:sp>
        <p:nvSpPr>
          <p:cNvPr id="14" name="Text 12"/>
          <p:cNvSpPr txBox="1"/>
          <p:nvPr/>
        </p:nvSpPr>
        <p:spPr>
          <a:xfrm>
            <a:off x="8412480" y="2423160"/>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Seconds since first transaction</a:t>
            </a:r>
            <a:endParaRPr lang="en-US" sz="1050" dirty="0"/>
          </a:p>
        </p:txBody>
      </p:sp>
      <p:sp>
        <p:nvSpPr>
          <p:cNvPr id="15" name="Shape 13"/>
          <p:cNvSpPr/>
          <p:nvPr/>
        </p:nvSpPr>
        <p:spPr>
          <a:xfrm>
            <a:off x="6858000" y="2999232"/>
            <a:ext cx="1417320" cy="457200"/>
          </a:xfrm>
          <a:prstGeom prst="roundRect">
            <a:avLst>
              <a:gd name="adj" fmla="val 12000"/>
            </a:avLst>
          </a:prstGeom>
          <a:solidFill>
            <a:srgbClr val="13294B"/>
          </a:solidFill>
          <a:ln/>
        </p:spPr>
      </p:sp>
      <p:sp>
        <p:nvSpPr>
          <p:cNvPr id="16" name="Text 14"/>
          <p:cNvSpPr txBox="1"/>
          <p:nvPr/>
        </p:nvSpPr>
        <p:spPr>
          <a:xfrm>
            <a:off x="6858000" y="2999232"/>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V1 – V28</a:t>
            </a:r>
            <a:endParaRPr lang="en-US" sz="1050" dirty="0"/>
          </a:p>
        </p:txBody>
      </p:sp>
      <p:sp>
        <p:nvSpPr>
          <p:cNvPr id="17" name="Text 15"/>
          <p:cNvSpPr txBox="1"/>
          <p:nvPr/>
        </p:nvSpPr>
        <p:spPr>
          <a:xfrm>
            <a:off x="8412480" y="2999232"/>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Anonymized PCA components</a:t>
            </a:r>
            <a:endParaRPr lang="en-US" sz="1050" dirty="0"/>
          </a:p>
        </p:txBody>
      </p:sp>
      <p:sp>
        <p:nvSpPr>
          <p:cNvPr id="18" name="Shape 16"/>
          <p:cNvSpPr/>
          <p:nvPr/>
        </p:nvSpPr>
        <p:spPr>
          <a:xfrm>
            <a:off x="6858000" y="3575304"/>
            <a:ext cx="1417320" cy="457200"/>
          </a:xfrm>
          <a:prstGeom prst="roundRect">
            <a:avLst>
              <a:gd name="adj" fmla="val 12000"/>
            </a:avLst>
          </a:prstGeom>
          <a:solidFill>
            <a:srgbClr val="13294B"/>
          </a:solidFill>
          <a:ln/>
        </p:spPr>
      </p:sp>
      <p:sp>
        <p:nvSpPr>
          <p:cNvPr id="19" name="Text 17"/>
          <p:cNvSpPr txBox="1"/>
          <p:nvPr/>
        </p:nvSpPr>
        <p:spPr>
          <a:xfrm>
            <a:off x="6858000" y="3575304"/>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Amount</a:t>
            </a:r>
            <a:endParaRPr lang="en-US" sz="1050" dirty="0"/>
          </a:p>
        </p:txBody>
      </p:sp>
      <p:sp>
        <p:nvSpPr>
          <p:cNvPr id="20" name="Text 18"/>
          <p:cNvSpPr txBox="1"/>
          <p:nvPr/>
        </p:nvSpPr>
        <p:spPr>
          <a:xfrm>
            <a:off x="8412480" y="3575304"/>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Transaction value ($)</a:t>
            </a:r>
            <a:endParaRPr lang="en-US" sz="1050" dirty="0"/>
          </a:p>
        </p:txBody>
      </p:sp>
      <p:sp>
        <p:nvSpPr>
          <p:cNvPr id="21" name="Shape 19"/>
          <p:cNvSpPr/>
          <p:nvPr/>
        </p:nvSpPr>
        <p:spPr>
          <a:xfrm>
            <a:off x="6858000" y="4151376"/>
            <a:ext cx="1417320" cy="457200"/>
          </a:xfrm>
          <a:prstGeom prst="roundRect">
            <a:avLst>
              <a:gd name="adj" fmla="val 12000"/>
            </a:avLst>
          </a:prstGeom>
          <a:solidFill>
            <a:srgbClr val="13294B"/>
          </a:solidFill>
          <a:ln/>
        </p:spPr>
      </p:sp>
      <p:sp>
        <p:nvSpPr>
          <p:cNvPr id="22" name="Text 20"/>
          <p:cNvSpPr txBox="1"/>
          <p:nvPr/>
        </p:nvSpPr>
        <p:spPr>
          <a:xfrm>
            <a:off x="6858000" y="4151376"/>
            <a:ext cx="1417320" cy="457200"/>
          </a:xfrm>
          <a:prstGeom prst="rect">
            <a:avLst/>
          </a:prstGeom>
          <a:noFill/>
          <a:ln/>
        </p:spPr>
        <p:txBody>
          <a:bodyPr wrap="square" lIns="0" tIns="0" rIns="0" bIns="0" rtlCol="0" anchor="ctr"/>
          <a:lstStyle/>
          <a:p>
            <a:pPr marL="0" indent="0" algn="ctr">
              <a:buNone/>
            </a:pPr>
            <a:r>
              <a:rPr lang="en-US" sz="1050" b="1" dirty="0">
                <a:solidFill>
                  <a:srgbClr val="AFC6E9"/>
                </a:solidFill>
                <a:latin typeface="Calibri" pitchFamily="34" charset="0"/>
                <a:ea typeface="Calibri" pitchFamily="34" charset="-122"/>
                <a:cs typeface="Calibri" pitchFamily="34" charset="-120"/>
              </a:rPr>
              <a:t>Class</a:t>
            </a:r>
            <a:endParaRPr lang="en-US" sz="1050" dirty="0"/>
          </a:p>
        </p:txBody>
      </p:sp>
      <p:sp>
        <p:nvSpPr>
          <p:cNvPr id="23" name="Text 21"/>
          <p:cNvSpPr txBox="1"/>
          <p:nvPr/>
        </p:nvSpPr>
        <p:spPr>
          <a:xfrm>
            <a:off x="8412480" y="4151376"/>
            <a:ext cx="2926080" cy="457200"/>
          </a:xfrm>
          <a:prstGeom prst="rect">
            <a:avLst/>
          </a:prstGeom>
          <a:noFill/>
          <a:ln/>
        </p:spPr>
        <p:txBody>
          <a:bodyPr wrap="square" lIns="0" tIns="0" rIns="0" bIns="0" rtlCol="0" anchor="ctr"/>
          <a:lstStyle/>
          <a:p>
            <a:pPr marL="0" indent="0">
              <a:lnSpc>
                <a:spcPct val="115000"/>
              </a:lnSpc>
              <a:buNone/>
            </a:pPr>
            <a:r>
              <a:rPr lang="en-US" sz="1050" dirty="0">
                <a:solidFill>
                  <a:srgbClr val="AFC6E9"/>
                </a:solidFill>
                <a:latin typeface="Calibri" pitchFamily="34" charset="0"/>
                <a:ea typeface="Calibri" pitchFamily="34" charset="-122"/>
                <a:cs typeface="Calibri" pitchFamily="34" charset="-120"/>
              </a:rPr>
              <a:t>Target: 0 = legitimate, 1 = fraud</a:t>
            </a:r>
            <a:endParaRPr lang="en-US" sz="1050" dirty="0"/>
          </a:p>
        </p:txBody>
      </p:sp>
      <p:sp>
        <p:nvSpPr>
          <p:cNvPr id="24" name="Shape 22"/>
          <p:cNvSpPr/>
          <p:nvPr/>
        </p:nvSpPr>
        <p:spPr>
          <a:xfrm>
            <a:off x="6858000" y="4800600"/>
            <a:ext cx="4389120" cy="0"/>
          </a:xfrm>
          <a:prstGeom prst="line">
            <a:avLst/>
          </a:prstGeom>
          <a:noFill/>
          <a:ln w="12700">
            <a:solidFill>
              <a:srgbClr val="2E5A9C"/>
            </a:solidFill>
            <a:prstDash val="dash"/>
          </a:ln>
        </p:spPr>
      </p:sp>
      <p:sp>
        <p:nvSpPr>
          <p:cNvPr id="25" name="Text 23"/>
          <p:cNvSpPr txBox="1"/>
          <p:nvPr/>
        </p:nvSpPr>
        <p:spPr>
          <a:xfrm>
            <a:off x="6858000" y="4983480"/>
            <a:ext cx="2103120" cy="548640"/>
          </a:xfrm>
          <a:prstGeom prst="rect">
            <a:avLst/>
          </a:prstGeom>
          <a:noFill/>
          <a:ln/>
        </p:spPr>
        <p:txBody>
          <a:bodyPr wrap="square" lIns="0" tIns="0" rIns="0" bIns="0" rtlCol="0" anchor="ctr"/>
          <a:lstStyle/>
          <a:p>
            <a:pPr marL="0" indent="0">
              <a:buNone/>
            </a:pPr>
            <a:r>
              <a:rPr lang="en-US" sz="2400" b="1" dirty="0">
                <a:solidFill>
                  <a:srgbClr val="E63946"/>
                </a:solidFill>
                <a:latin typeface="Cambria" pitchFamily="34" charset="0"/>
                <a:ea typeface="Cambria" pitchFamily="34" charset="-122"/>
                <a:cs typeface="Cambria" pitchFamily="34" charset="-120"/>
              </a:rPr>
              <a:t>284,807</a:t>
            </a:r>
            <a:endParaRPr lang="en-US" sz="2400" dirty="0"/>
          </a:p>
        </p:txBody>
      </p:sp>
      <p:sp>
        <p:nvSpPr>
          <p:cNvPr id="26" name="Text 24"/>
          <p:cNvSpPr txBox="1"/>
          <p:nvPr/>
        </p:nvSpPr>
        <p:spPr>
          <a:xfrm>
            <a:off x="6858000" y="5532120"/>
            <a:ext cx="2103120" cy="274320"/>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Rows</a:t>
            </a:r>
            <a:endParaRPr lang="en-US" sz="1050" dirty="0"/>
          </a:p>
        </p:txBody>
      </p:sp>
      <p:sp>
        <p:nvSpPr>
          <p:cNvPr id="27" name="Text 25"/>
          <p:cNvSpPr txBox="1"/>
          <p:nvPr/>
        </p:nvSpPr>
        <p:spPr>
          <a:xfrm>
            <a:off x="9052560" y="4983480"/>
            <a:ext cx="2103120" cy="548640"/>
          </a:xfrm>
          <a:prstGeom prst="rect">
            <a:avLst/>
          </a:prstGeom>
          <a:noFill/>
          <a:ln/>
        </p:spPr>
        <p:txBody>
          <a:bodyPr wrap="square" lIns="0" tIns="0" rIns="0" bIns="0" rtlCol="0" anchor="ctr"/>
          <a:lstStyle/>
          <a:p>
            <a:pPr marL="0" indent="0">
              <a:buNone/>
            </a:pPr>
            <a:r>
              <a:rPr lang="en-US" sz="2400" b="1" dirty="0">
                <a:solidFill>
                  <a:srgbClr val="E63946"/>
                </a:solidFill>
                <a:latin typeface="Cambria" pitchFamily="34" charset="0"/>
                <a:ea typeface="Cambria" pitchFamily="34" charset="-122"/>
                <a:cs typeface="Cambria" pitchFamily="34" charset="-120"/>
              </a:rPr>
              <a:t>31</a:t>
            </a:r>
            <a:endParaRPr lang="en-US" sz="2400" dirty="0"/>
          </a:p>
        </p:txBody>
      </p:sp>
      <p:sp>
        <p:nvSpPr>
          <p:cNvPr id="28" name="Text 26"/>
          <p:cNvSpPr txBox="1"/>
          <p:nvPr/>
        </p:nvSpPr>
        <p:spPr>
          <a:xfrm>
            <a:off x="9052560" y="5532120"/>
            <a:ext cx="2103120" cy="274320"/>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Columns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DATA UNDERSTANDING</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Getting to Know the Dataset</a:t>
            </a:r>
            <a:endParaRPr lang="en-US" sz="2800" dirty="0"/>
          </a:p>
        </p:txBody>
      </p:sp>
      <p:sp>
        <p:nvSpPr>
          <p:cNvPr id="4" name="Shape 2"/>
          <p:cNvSpPr/>
          <p:nvPr/>
        </p:nvSpPr>
        <p:spPr>
          <a:xfrm>
            <a:off x="594360" y="178308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822960" y="192024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284,807</a:t>
            </a:r>
            <a:endParaRPr lang="en-US" sz="2200" dirty="0"/>
          </a:p>
        </p:txBody>
      </p:sp>
      <p:sp>
        <p:nvSpPr>
          <p:cNvPr id="6" name="Text 4"/>
          <p:cNvSpPr txBox="1"/>
          <p:nvPr/>
        </p:nvSpPr>
        <p:spPr>
          <a:xfrm>
            <a:off x="822960" y="249631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Records</a:t>
            </a:r>
            <a:endParaRPr lang="en-US" sz="1150" dirty="0"/>
          </a:p>
        </p:txBody>
      </p:sp>
      <p:sp>
        <p:nvSpPr>
          <p:cNvPr id="7" name="Shape 5"/>
          <p:cNvSpPr/>
          <p:nvPr/>
        </p:nvSpPr>
        <p:spPr>
          <a:xfrm>
            <a:off x="4389120" y="178308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8" name="Text 6"/>
          <p:cNvSpPr txBox="1"/>
          <p:nvPr/>
        </p:nvSpPr>
        <p:spPr>
          <a:xfrm>
            <a:off x="4617720" y="192024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31</a:t>
            </a:r>
            <a:endParaRPr lang="en-US" sz="2200" dirty="0"/>
          </a:p>
        </p:txBody>
      </p:sp>
      <p:sp>
        <p:nvSpPr>
          <p:cNvPr id="9" name="Text 7"/>
          <p:cNvSpPr txBox="1"/>
          <p:nvPr/>
        </p:nvSpPr>
        <p:spPr>
          <a:xfrm>
            <a:off x="4617720" y="249631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Features (incl. target)</a:t>
            </a:r>
            <a:endParaRPr lang="en-US" sz="1150" dirty="0"/>
          </a:p>
        </p:txBody>
      </p:sp>
      <p:sp>
        <p:nvSpPr>
          <p:cNvPr id="10" name="Shape 8"/>
          <p:cNvSpPr/>
          <p:nvPr/>
        </p:nvSpPr>
        <p:spPr>
          <a:xfrm>
            <a:off x="8183880" y="178308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11" name="Text 9"/>
          <p:cNvSpPr txBox="1"/>
          <p:nvPr/>
        </p:nvSpPr>
        <p:spPr>
          <a:xfrm>
            <a:off x="8412480" y="192024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Numeric</a:t>
            </a:r>
            <a:endParaRPr lang="en-US" sz="2200" dirty="0"/>
          </a:p>
        </p:txBody>
      </p:sp>
      <p:sp>
        <p:nvSpPr>
          <p:cNvPr id="12" name="Text 10"/>
          <p:cNvSpPr txBox="1"/>
          <p:nvPr/>
        </p:nvSpPr>
        <p:spPr>
          <a:xfrm>
            <a:off x="8412480" y="249631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Data Types (all float / int)</a:t>
            </a:r>
            <a:endParaRPr lang="en-US" sz="1150" dirty="0"/>
          </a:p>
        </p:txBody>
      </p:sp>
      <p:sp>
        <p:nvSpPr>
          <p:cNvPr id="13" name="Shape 11"/>
          <p:cNvSpPr/>
          <p:nvPr/>
        </p:nvSpPr>
        <p:spPr>
          <a:xfrm>
            <a:off x="594360" y="310896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14" name="Text 12"/>
          <p:cNvSpPr txBox="1"/>
          <p:nvPr/>
        </p:nvSpPr>
        <p:spPr>
          <a:xfrm>
            <a:off x="822960" y="324612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0</a:t>
            </a:r>
            <a:endParaRPr lang="en-US" sz="2200" dirty="0"/>
          </a:p>
        </p:txBody>
      </p:sp>
      <p:sp>
        <p:nvSpPr>
          <p:cNvPr id="15" name="Text 13"/>
          <p:cNvSpPr txBox="1"/>
          <p:nvPr/>
        </p:nvSpPr>
        <p:spPr>
          <a:xfrm>
            <a:off x="822960" y="382219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Missing Values</a:t>
            </a:r>
            <a:endParaRPr lang="en-US" sz="1150" dirty="0"/>
          </a:p>
        </p:txBody>
      </p:sp>
      <p:sp>
        <p:nvSpPr>
          <p:cNvPr id="16" name="Shape 14"/>
          <p:cNvSpPr/>
          <p:nvPr/>
        </p:nvSpPr>
        <p:spPr>
          <a:xfrm>
            <a:off x="4389120" y="310896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17" name="Text 15"/>
          <p:cNvSpPr txBox="1"/>
          <p:nvPr/>
        </p:nvSpPr>
        <p:spPr>
          <a:xfrm>
            <a:off x="4617720" y="324612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1,081</a:t>
            </a:r>
            <a:endParaRPr lang="en-US" sz="2200" dirty="0"/>
          </a:p>
        </p:txBody>
      </p:sp>
      <p:sp>
        <p:nvSpPr>
          <p:cNvPr id="18" name="Text 16"/>
          <p:cNvSpPr txBox="1"/>
          <p:nvPr/>
        </p:nvSpPr>
        <p:spPr>
          <a:xfrm>
            <a:off x="4617720" y="382219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Duplicate Rows</a:t>
            </a:r>
            <a:endParaRPr lang="en-US" sz="1150" dirty="0"/>
          </a:p>
        </p:txBody>
      </p:sp>
      <p:sp>
        <p:nvSpPr>
          <p:cNvPr id="19" name="Shape 17"/>
          <p:cNvSpPr/>
          <p:nvPr/>
        </p:nvSpPr>
        <p:spPr>
          <a:xfrm>
            <a:off x="8183880" y="3108960"/>
            <a:ext cx="3611880" cy="1143000"/>
          </a:xfrm>
          <a:prstGeom prst="roundRect">
            <a:avLst>
              <a:gd name="adj" fmla="val 5600"/>
            </a:avLst>
          </a:prstGeom>
          <a:solidFill>
            <a:srgbClr val="FFFFFF"/>
          </a:solidFill>
          <a:ln w="12700">
            <a:solidFill>
              <a:srgbClr val="DDE3ED"/>
            </a:solidFill>
            <a:prstDash val="solid"/>
          </a:ln>
          <a:effectLst>
            <a:outerShdw algn="bl" rotWithShape="0">
              <a:srgbClr val="1B2A41">
                <a:alpha val="0"/>
              </a:srgbClr>
            </a:outerShdw>
          </a:effectLst>
        </p:spPr>
      </p:sp>
      <p:sp>
        <p:nvSpPr>
          <p:cNvPr id="20" name="Text 18"/>
          <p:cNvSpPr txBox="1"/>
          <p:nvPr/>
        </p:nvSpPr>
        <p:spPr>
          <a:xfrm>
            <a:off x="8412480" y="3246120"/>
            <a:ext cx="3154680" cy="548640"/>
          </a:xfrm>
          <a:prstGeom prst="rect">
            <a:avLst/>
          </a:prstGeom>
          <a:noFill/>
          <a:ln/>
        </p:spPr>
        <p:txBody>
          <a:bodyPr wrap="square" lIns="0" tIns="0" rIns="0" bIns="0" rtlCol="0" anchor="ctr"/>
          <a:lstStyle/>
          <a:p>
            <a:pPr marL="0" indent="0">
              <a:buNone/>
            </a:pPr>
            <a:r>
              <a:rPr lang="en-US" sz="2200" b="1" dirty="0">
                <a:solidFill>
                  <a:srgbClr val="2E5A9C"/>
                </a:solidFill>
                <a:latin typeface="Cambria" pitchFamily="34" charset="0"/>
                <a:ea typeface="Cambria" pitchFamily="34" charset="-122"/>
                <a:cs typeface="Cambria" pitchFamily="34" charset="-120"/>
              </a:rPr>
              <a:t>2</a:t>
            </a:r>
            <a:endParaRPr lang="en-US" sz="2200" dirty="0"/>
          </a:p>
        </p:txBody>
      </p:sp>
      <p:sp>
        <p:nvSpPr>
          <p:cNvPr id="21" name="Text 19"/>
          <p:cNvSpPr txBox="1"/>
          <p:nvPr/>
        </p:nvSpPr>
        <p:spPr>
          <a:xfrm>
            <a:off x="8412480" y="3822192"/>
            <a:ext cx="3154680" cy="36576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Unique Classes</a:t>
            </a:r>
            <a:endParaRPr lang="en-US" sz="1150" dirty="0"/>
          </a:p>
        </p:txBody>
      </p:sp>
      <p:sp>
        <p:nvSpPr>
          <p:cNvPr id="22" name="Shape 20"/>
          <p:cNvSpPr/>
          <p:nvPr/>
        </p:nvSpPr>
        <p:spPr>
          <a:xfrm>
            <a:off x="594360" y="5257800"/>
            <a:ext cx="10744200" cy="1097280"/>
          </a:xfrm>
          <a:prstGeom prst="roundRect">
            <a:avLst>
              <a:gd name="adj" fmla="val 6667"/>
            </a:avLst>
          </a:prstGeom>
          <a:solidFill>
            <a:srgbClr val="0B1B33"/>
          </a:solidFill>
          <a:ln/>
        </p:spPr>
      </p:sp>
      <p:sp>
        <p:nvSpPr>
          <p:cNvPr id="23" name="Text 21"/>
          <p:cNvSpPr txBox="1"/>
          <p:nvPr/>
        </p:nvSpPr>
        <p:spPr>
          <a:xfrm>
            <a:off x="868680" y="5394960"/>
            <a:ext cx="3291840" cy="822960"/>
          </a:xfrm>
          <a:prstGeom prst="rect">
            <a:avLst/>
          </a:prstGeom>
          <a:noFill/>
          <a:ln/>
        </p:spPr>
        <p:txBody>
          <a:bodyPr wrap="square" lIns="0" tIns="0" rIns="0" bIns="0" rtlCol="0" anchor="ctr"/>
          <a:lstStyle/>
          <a:p>
            <a:pPr marL="0" indent="0">
              <a:lnSpc>
                <a:spcPct val="115000"/>
              </a:lnSpc>
              <a:buNone/>
            </a:pPr>
            <a:r>
              <a:rPr lang="en-US" sz="1350" b="1" dirty="0">
                <a:solidFill>
                  <a:srgbClr val="FFFFFF"/>
                </a:solidFill>
                <a:latin typeface="Calibri" pitchFamily="34" charset="0"/>
                <a:ea typeface="Calibri" pitchFamily="34" charset="-122"/>
                <a:cs typeface="Calibri" pitchFamily="34" charset="-120"/>
              </a:rPr>
              <a:t>Statistical Summary &amp; Distributions</a:t>
            </a:r>
            <a:endParaRPr lang="en-US" sz="1350" dirty="0"/>
          </a:p>
        </p:txBody>
      </p:sp>
      <p:sp>
        <p:nvSpPr>
          <p:cNvPr id="24" name="Text 22"/>
          <p:cNvSpPr txBox="1"/>
          <p:nvPr/>
        </p:nvSpPr>
        <p:spPr>
          <a:xfrm>
            <a:off x="4343400" y="5394960"/>
            <a:ext cx="6766560" cy="822960"/>
          </a:xfrm>
          <a:prstGeom prst="rect">
            <a:avLst/>
          </a:prstGeom>
          <a:noFill/>
          <a:ln/>
        </p:spPr>
        <p:txBody>
          <a:bodyPr wrap="square" lIns="0" tIns="0" rIns="0" bIns="0" rtlCol="0" anchor="ctr"/>
          <a:lstStyle/>
          <a:p>
            <a:pPr marL="0" indent="0">
              <a:lnSpc>
                <a:spcPct val="125000"/>
              </a:lnSpc>
              <a:buNone/>
            </a:pPr>
            <a:r>
              <a:rPr lang="en-US" sz="1150" dirty="0">
                <a:solidFill>
                  <a:srgbClr val="AFC6E9"/>
                </a:solidFill>
                <a:latin typeface="Calibri" pitchFamily="34" charset="0"/>
                <a:ea typeface="Calibri" pitchFamily="34" charset="-122"/>
                <a:cs typeface="Calibri" pitchFamily="34" charset="-120"/>
              </a:rPr>
              <a:t>df.describe() shows Amount ranging from $0 to $25,691 (right-skewed, mean ≈ $88); Time spans ~48 hours; most V1–V28 features are centered near 0 with unit-scale variance — explored visually in the EDA section.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DATA PREPROCESSING</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Cleaning and Preparing the Data</a:t>
            </a:r>
            <a:endParaRPr lang="en-US" sz="2800" dirty="0"/>
          </a:p>
        </p:txBody>
      </p:sp>
      <p:sp>
        <p:nvSpPr>
          <p:cNvPr id="4" name="Shape 2"/>
          <p:cNvSpPr/>
          <p:nvPr/>
        </p:nvSpPr>
        <p:spPr>
          <a:xfrm>
            <a:off x="594360" y="1783080"/>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5" name="Shape 3"/>
          <p:cNvSpPr/>
          <p:nvPr/>
        </p:nvSpPr>
        <p:spPr>
          <a:xfrm>
            <a:off x="850392" y="1965960"/>
            <a:ext cx="457200" cy="457200"/>
          </a:xfrm>
          <a:prstGeom prst="ellipse">
            <a:avLst/>
          </a:prstGeom>
          <a:solidFill>
            <a:srgbClr val="0B1B33"/>
          </a:solidFill>
          <a:ln/>
        </p:spPr>
      </p:sp>
      <p:sp>
        <p:nvSpPr>
          <p:cNvPr id="6" name="Text 4"/>
          <p:cNvSpPr txBox="1"/>
          <p:nvPr/>
        </p:nvSpPr>
        <p:spPr>
          <a:xfrm>
            <a:off x="850392"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508760" y="1938528"/>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Missing Values</a:t>
            </a:r>
            <a:endParaRPr lang="en-US" sz="1350" dirty="0"/>
          </a:p>
        </p:txBody>
      </p:sp>
      <p:sp>
        <p:nvSpPr>
          <p:cNvPr id="8" name="Text 6"/>
          <p:cNvSpPr txBox="1"/>
          <p:nvPr/>
        </p:nvSpPr>
        <p:spPr>
          <a:xfrm>
            <a:off x="1508760" y="2240280"/>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Checked with df.isnull().sum() — none found, so no imputation was required.</a:t>
            </a:r>
            <a:endParaRPr lang="en-US" sz="1100" dirty="0"/>
          </a:p>
        </p:txBody>
      </p:sp>
      <p:sp>
        <p:nvSpPr>
          <p:cNvPr id="9" name="Shape 7"/>
          <p:cNvSpPr/>
          <p:nvPr/>
        </p:nvSpPr>
        <p:spPr>
          <a:xfrm>
            <a:off x="6126480" y="1783080"/>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10" name="Shape 8"/>
          <p:cNvSpPr/>
          <p:nvPr/>
        </p:nvSpPr>
        <p:spPr>
          <a:xfrm>
            <a:off x="6382512" y="1965960"/>
            <a:ext cx="457200" cy="457200"/>
          </a:xfrm>
          <a:prstGeom prst="ellipse">
            <a:avLst/>
          </a:prstGeom>
          <a:solidFill>
            <a:srgbClr val="0B1B33"/>
          </a:solidFill>
          <a:ln/>
        </p:spPr>
      </p:sp>
      <p:sp>
        <p:nvSpPr>
          <p:cNvPr id="11" name="Text 9"/>
          <p:cNvSpPr txBox="1"/>
          <p:nvPr/>
        </p:nvSpPr>
        <p:spPr>
          <a:xfrm>
            <a:off x="6382512" y="1965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7040880" y="1938528"/>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Duplicate Records</a:t>
            </a:r>
            <a:endParaRPr lang="en-US" sz="1350" dirty="0"/>
          </a:p>
        </p:txBody>
      </p:sp>
      <p:sp>
        <p:nvSpPr>
          <p:cNvPr id="13" name="Text 11"/>
          <p:cNvSpPr txBox="1"/>
          <p:nvPr/>
        </p:nvSpPr>
        <p:spPr>
          <a:xfrm>
            <a:off x="7040880" y="2240280"/>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1,081 duplicate rows identified and removed with drop_duplicates() to prevent data leakage.</a:t>
            </a:r>
            <a:endParaRPr lang="en-US" sz="1100" dirty="0"/>
          </a:p>
        </p:txBody>
      </p:sp>
      <p:sp>
        <p:nvSpPr>
          <p:cNvPr id="14" name="Shape 12"/>
          <p:cNvSpPr/>
          <p:nvPr/>
        </p:nvSpPr>
        <p:spPr>
          <a:xfrm>
            <a:off x="594360" y="3182112"/>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15" name="Shape 13"/>
          <p:cNvSpPr/>
          <p:nvPr/>
        </p:nvSpPr>
        <p:spPr>
          <a:xfrm>
            <a:off x="850392" y="3364992"/>
            <a:ext cx="457200" cy="457200"/>
          </a:xfrm>
          <a:prstGeom prst="ellipse">
            <a:avLst/>
          </a:prstGeom>
          <a:solidFill>
            <a:srgbClr val="0B1B33"/>
          </a:solidFill>
          <a:ln/>
        </p:spPr>
      </p:sp>
      <p:sp>
        <p:nvSpPr>
          <p:cNvPr id="16" name="Text 14"/>
          <p:cNvSpPr txBox="1"/>
          <p:nvPr/>
        </p:nvSpPr>
        <p:spPr>
          <a:xfrm>
            <a:off x="850392" y="336499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508760" y="3337560"/>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Outliers</a:t>
            </a:r>
            <a:endParaRPr lang="en-US" sz="1350" dirty="0"/>
          </a:p>
        </p:txBody>
      </p:sp>
      <p:sp>
        <p:nvSpPr>
          <p:cNvPr id="18" name="Text 16"/>
          <p:cNvSpPr txBox="1"/>
          <p:nvPr/>
        </p:nvSpPr>
        <p:spPr>
          <a:xfrm>
            <a:off x="1508760" y="3639312"/>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Extreme Amount values reviewed via boxplots; retained since large transactions can be genuine fraud signals.</a:t>
            </a:r>
            <a:endParaRPr lang="en-US" sz="1100" dirty="0"/>
          </a:p>
        </p:txBody>
      </p:sp>
      <p:sp>
        <p:nvSpPr>
          <p:cNvPr id="19" name="Shape 17"/>
          <p:cNvSpPr/>
          <p:nvPr/>
        </p:nvSpPr>
        <p:spPr>
          <a:xfrm>
            <a:off x="6126480" y="3182112"/>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20" name="Shape 18"/>
          <p:cNvSpPr/>
          <p:nvPr/>
        </p:nvSpPr>
        <p:spPr>
          <a:xfrm>
            <a:off x="6382512" y="3364992"/>
            <a:ext cx="457200" cy="457200"/>
          </a:xfrm>
          <a:prstGeom prst="ellipse">
            <a:avLst/>
          </a:prstGeom>
          <a:solidFill>
            <a:srgbClr val="0B1B33"/>
          </a:solidFill>
          <a:ln/>
        </p:spPr>
      </p:sp>
      <p:sp>
        <p:nvSpPr>
          <p:cNvPr id="21" name="Text 19"/>
          <p:cNvSpPr txBox="1"/>
          <p:nvPr/>
        </p:nvSpPr>
        <p:spPr>
          <a:xfrm>
            <a:off x="6382512" y="336499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040880" y="3337560"/>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Incorrect Data</a:t>
            </a:r>
            <a:endParaRPr lang="en-US" sz="1350" dirty="0"/>
          </a:p>
        </p:txBody>
      </p:sp>
      <p:sp>
        <p:nvSpPr>
          <p:cNvPr id="23" name="Text 21"/>
          <p:cNvSpPr txBox="1"/>
          <p:nvPr/>
        </p:nvSpPr>
        <p:spPr>
          <a:xfrm>
            <a:off x="7040880" y="3639312"/>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Verified Time and Amount are non-negative and Class contains only {0, 1}, with no invalid entries.</a:t>
            </a:r>
            <a:endParaRPr lang="en-US" sz="1100" dirty="0"/>
          </a:p>
        </p:txBody>
      </p:sp>
      <p:sp>
        <p:nvSpPr>
          <p:cNvPr id="24" name="Shape 22"/>
          <p:cNvSpPr/>
          <p:nvPr/>
        </p:nvSpPr>
        <p:spPr>
          <a:xfrm>
            <a:off x="594360" y="4581144"/>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25" name="Shape 23"/>
          <p:cNvSpPr/>
          <p:nvPr/>
        </p:nvSpPr>
        <p:spPr>
          <a:xfrm>
            <a:off x="850392" y="4764024"/>
            <a:ext cx="457200" cy="457200"/>
          </a:xfrm>
          <a:prstGeom prst="ellipse">
            <a:avLst/>
          </a:prstGeom>
          <a:solidFill>
            <a:srgbClr val="0B1B33"/>
          </a:solidFill>
          <a:ln/>
        </p:spPr>
      </p:sp>
      <p:sp>
        <p:nvSpPr>
          <p:cNvPr id="26" name="Text 24"/>
          <p:cNvSpPr txBox="1"/>
          <p:nvPr/>
        </p:nvSpPr>
        <p:spPr>
          <a:xfrm>
            <a:off x="850392" y="47640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1508760" y="4736592"/>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Categorical Variables</a:t>
            </a:r>
            <a:endParaRPr lang="en-US" sz="1350" dirty="0"/>
          </a:p>
        </p:txBody>
      </p:sp>
      <p:sp>
        <p:nvSpPr>
          <p:cNvPr id="28" name="Text 26"/>
          <p:cNvSpPr txBox="1"/>
          <p:nvPr/>
        </p:nvSpPr>
        <p:spPr>
          <a:xfrm>
            <a:off x="1508760" y="5038344"/>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None present — all features are numeric, so no encoding step was needed.</a:t>
            </a:r>
            <a:endParaRPr lang="en-US" sz="1100" dirty="0"/>
          </a:p>
        </p:txBody>
      </p:sp>
      <p:sp>
        <p:nvSpPr>
          <p:cNvPr id="29" name="Shape 27"/>
          <p:cNvSpPr/>
          <p:nvPr/>
        </p:nvSpPr>
        <p:spPr>
          <a:xfrm>
            <a:off x="6126480" y="4581144"/>
            <a:ext cx="5257800" cy="1234440"/>
          </a:xfrm>
          <a:prstGeom prst="roundRect">
            <a:avLst>
              <a:gd name="adj" fmla="val 5185"/>
            </a:avLst>
          </a:prstGeom>
          <a:solidFill>
            <a:srgbClr val="FFFFFF"/>
          </a:solidFill>
          <a:ln w="12700">
            <a:solidFill>
              <a:srgbClr val="DDE3ED"/>
            </a:solidFill>
            <a:prstDash val="solid"/>
          </a:ln>
          <a:effectLst>
            <a:outerShdw algn="bl" rotWithShape="0">
              <a:srgbClr val="1B2A41">
                <a:alpha val="0"/>
              </a:srgbClr>
            </a:outerShdw>
          </a:effectLst>
        </p:spPr>
      </p:sp>
      <p:sp>
        <p:nvSpPr>
          <p:cNvPr id="30" name="Shape 28"/>
          <p:cNvSpPr/>
          <p:nvPr/>
        </p:nvSpPr>
        <p:spPr>
          <a:xfrm>
            <a:off x="6382512" y="4764024"/>
            <a:ext cx="457200" cy="457200"/>
          </a:xfrm>
          <a:prstGeom prst="ellipse">
            <a:avLst/>
          </a:prstGeom>
          <a:solidFill>
            <a:srgbClr val="0B1B33"/>
          </a:solidFill>
          <a:ln/>
        </p:spPr>
      </p:sp>
      <p:sp>
        <p:nvSpPr>
          <p:cNvPr id="31" name="Text 29"/>
          <p:cNvSpPr txBox="1"/>
          <p:nvPr/>
        </p:nvSpPr>
        <p:spPr>
          <a:xfrm>
            <a:off x="6382512" y="47640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7040880" y="4736592"/>
            <a:ext cx="414223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Numerical Variables</a:t>
            </a:r>
            <a:endParaRPr lang="en-US" sz="1350" dirty="0"/>
          </a:p>
        </p:txBody>
      </p:sp>
      <p:sp>
        <p:nvSpPr>
          <p:cNvPr id="33" name="Text 31"/>
          <p:cNvSpPr txBox="1"/>
          <p:nvPr/>
        </p:nvSpPr>
        <p:spPr>
          <a:xfrm>
            <a:off x="7040880" y="5038344"/>
            <a:ext cx="4142232" cy="64008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Time and Amount were standardized with StandardScaler so their scale matches the already-scaled V1–V28 features.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EXPLORATORY DATA ANALYSIS</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Class Imbalance at a Glance</a:t>
            </a:r>
            <a:endParaRPr lang="en-US" sz="2800" dirty="0"/>
          </a:p>
        </p:txBody>
      </p:sp>
      <p:sp>
        <p:nvSpPr>
          <p:cNvPr id="4" name="Text 2"/>
          <p:cNvSpPr txBox="1"/>
          <p:nvPr/>
        </p:nvSpPr>
        <p:spPr>
          <a:xfrm>
            <a:off x="594360" y="1691640"/>
            <a:ext cx="4206240" cy="320040"/>
          </a:xfrm>
          <a:prstGeom prst="rect">
            <a:avLst/>
          </a:prstGeom>
          <a:noFill/>
          <a:ln/>
        </p:spPr>
        <p:txBody>
          <a:bodyPr wrap="square" lIns="0" tIns="0" rIns="0" bIns="0" rtlCol="0" anchor="ctr"/>
          <a:lstStyle/>
          <a:p>
            <a:pPr marL="0" indent="0">
              <a:buNone/>
            </a:pPr>
            <a:r>
              <a:rPr lang="en-US" sz="1300" b="1" dirty="0">
                <a:solidFill>
                  <a:srgbClr val="0B1B33"/>
                </a:solidFill>
                <a:latin typeface="Calibri" pitchFamily="34" charset="0"/>
                <a:ea typeface="Calibri" pitchFamily="34" charset="-122"/>
                <a:cs typeface="Calibri" pitchFamily="34" charset="-120"/>
              </a:rPr>
              <a:t>Class Distribution</a:t>
            </a:r>
            <a:endParaRPr lang="en-US" sz="1300" dirty="0"/>
          </a:p>
        </p:txBody>
      </p:sp>
      <p:graphicFrame>
        <p:nvGraphicFramePr>
          <p:cNvPr id="5" name="Chart 0"/>
          <p:cNvGraphicFramePr/>
          <p:nvPr/>
        </p:nvGraphicFramePr>
        <p:xfrm>
          <a:off x="457200" y="2011680"/>
          <a:ext cx="44805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94360" y="5166360"/>
            <a:ext cx="4206240" cy="685800"/>
          </a:xfrm>
          <a:prstGeom prst="rect">
            <a:avLst/>
          </a:prstGeom>
          <a:noFill/>
          <a:ln/>
        </p:spPr>
        <p:txBody>
          <a:bodyPr wrap="square" lIns="0" tIns="0" rIns="0" bIns="0" rtlCol="0" anchor="ctr"/>
          <a:lstStyle/>
          <a:p>
            <a:pPr marL="0" indent="0">
              <a:lnSpc>
                <a:spcPct val="125000"/>
              </a:lnSpc>
              <a:buNone/>
            </a:pPr>
            <a:r>
              <a:rPr lang="en-US" sz="1150" i="1" dirty="0">
                <a:solidFill>
                  <a:srgbClr val="6B7688"/>
                </a:solidFill>
                <a:latin typeface="Calibri" pitchFamily="34" charset="0"/>
                <a:ea typeface="Calibri" pitchFamily="34" charset="-122"/>
                <a:cs typeface="Calibri" pitchFamily="34" charset="-120"/>
              </a:rPr>
              <a:t>Fraud cases make up only ~0.17% of all transactions — a textbook class-imbalance problem.</a:t>
            </a:r>
            <a:endParaRPr lang="en-US" sz="1150" dirty="0"/>
          </a:p>
        </p:txBody>
      </p:sp>
      <p:sp>
        <p:nvSpPr>
          <p:cNvPr id="7" name="Shape 4"/>
          <p:cNvSpPr/>
          <p:nvPr/>
        </p:nvSpPr>
        <p:spPr>
          <a:xfrm>
            <a:off x="5349240" y="1691640"/>
            <a:ext cx="457200" cy="457200"/>
          </a:xfrm>
          <a:prstGeom prst="ellipse">
            <a:avLst/>
          </a:prstGeom>
          <a:solidFill>
            <a:srgbClr val="0B1B33"/>
          </a:solidFill>
          <a:ln/>
        </p:spPr>
      </p:sp>
      <p:sp>
        <p:nvSpPr>
          <p:cNvPr id="8" name="Text 5"/>
          <p:cNvSpPr txBox="1"/>
          <p:nvPr/>
        </p:nvSpPr>
        <p:spPr>
          <a:xfrm>
            <a:off x="5349240" y="1691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6007608" y="1664208"/>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Severe Class Imbalance</a:t>
            </a:r>
            <a:endParaRPr lang="en-US" sz="1350" dirty="0"/>
          </a:p>
        </p:txBody>
      </p:sp>
      <p:sp>
        <p:nvSpPr>
          <p:cNvPr id="10" name="Text 7"/>
          <p:cNvSpPr txBox="1"/>
          <p:nvPr/>
        </p:nvSpPr>
        <p:spPr>
          <a:xfrm>
            <a:off x="6007608" y="1965960"/>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Roughly 492 fraud cases out of 284,807 transactions — models need resampling or weighting to avoid bias.</a:t>
            </a:r>
            <a:endParaRPr lang="en-US" sz="1100" dirty="0"/>
          </a:p>
        </p:txBody>
      </p:sp>
      <p:sp>
        <p:nvSpPr>
          <p:cNvPr id="11" name="Shape 8"/>
          <p:cNvSpPr/>
          <p:nvPr/>
        </p:nvSpPr>
        <p:spPr>
          <a:xfrm>
            <a:off x="5349240" y="2770632"/>
            <a:ext cx="457200" cy="457200"/>
          </a:xfrm>
          <a:prstGeom prst="ellipse">
            <a:avLst/>
          </a:prstGeom>
          <a:solidFill>
            <a:srgbClr val="0B1B33"/>
          </a:solidFill>
          <a:ln/>
        </p:spPr>
      </p:sp>
      <p:sp>
        <p:nvSpPr>
          <p:cNvPr id="12" name="Text 9"/>
          <p:cNvSpPr txBox="1"/>
          <p:nvPr/>
        </p:nvSpPr>
        <p:spPr>
          <a:xfrm>
            <a:off x="5349240" y="277063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6007608" y="2743200"/>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PCA-Transformed Features</a:t>
            </a:r>
            <a:endParaRPr lang="en-US" sz="1350" dirty="0"/>
          </a:p>
        </p:txBody>
      </p:sp>
      <p:sp>
        <p:nvSpPr>
          <p:cNvPr id="14" name="Text 11"/>
          <p:cNvSpPr txBox="1"/>
          <p:nvPr/>
        </p:nvSpPr>
        <p:spPr>
          <a:xfrm>
            <a:off x="6007608" y="3044952"/>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Features V1–V28 are anonymized principal components, already decorrelated and roughly scaled.</a:t>
            </a:r>
            <a:endParaRPr lang="en-US" sz="1100" dirty="0"/>
          </a:p>
        </p:txBody>
      </p:sp>
      <p:sp>
        <p:nvSpPr>
          <p:cNvPr id="15" name="Shape 12"/>
          <p:cNvSpPr/>
          <p:nvPr/>
        </p:nvSpPr>
        <p:spPr>
          <a:xfrm>
            <a:off x="5349240" y="3849624"/>
            <a:ext cx="457200" cy="457200"/>
          </a:xfrm>
          <a:prstGeom prst="ellipse">
            <a:avLst/>
          </a:prstGeom>
          <a:solidFill>
            <a:srgbClr val="0B1B33"/>
          </a:solidFill>
          <a:ln/>
        </p:spPr>
      </p:sp>
      <p:sp>
        <p:nvSpPr>
          <p:cNvPr id="16" name="Text 13"/>
          <p:cNvSpPr txBox="1"/>
          <p:nvPr/>
        </p:nvSpPr>
        <p:spPr>
          <a:xfrm>
            <a:off x="5349240" y="38496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6007608" y="3822192"/>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Raw-Scale Outliers</a:t>
            </a:r>
            <a:endParaRPr lang="en-US" sz="1350" dirty="0"/>
          </a:p>
        </p:txBody>
      </p:sp>
      <p:sp>
        <p:nvSpPr>
          <p:cNvPr id="18" name="Text 15"/>
          <p:cNvSpPr txBox="1"/>
          <p:nvPr/>
        </p:nvSpPr>
        <p:spPr>
          <a:xfrm>
            <a:off x="6007608" y="4123944"/>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'Time' and 'Amount' remain in their original scale and need standardization before modeling.</a:t>
            </a:r>
            <a:endParaRPr lang="en-US" sz="1100" dirty="0"/>
          </a:p>
        </p:txBody>
      </p:sp>
      <p:sp>
        <p:nvSpPr>
          <p:cNvPr id="19" name="Shape 16"/>
          <p:cNvSpPr/>
          <p:nvPr/>
        </p:nvSpPr>
        <p:spPr>
          <a:xfrm>
            <a:off x="5349240" y="4928616"/>
            <a:ext cx="457200" cy="457200"/>
          </a:xfrm>
          <a:prstGeom prst="ellipse">
            <a:avLst/>
          </a:prstGeom>
          <a:solidFill>
            <a:srgbClr val="0B1B33"/>
          </a:solidFill>
          <a:ln/>
        </p:spPr>
      </p:sp>
      <p:sp>
        <p:nvSpPr>
          <p:cNvPr id="20" name="Text 17"/>
          <p:cNvSpPr txBox="1"/>
          <p:nvPr/>
        </p:nvSpPr>
        <p:spPr>
          <a:xfrm>
            <a:off x="5349240" y="492861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6007608" y="4901184"/>
            <a:ext cx="5376672" cy="292608"/>
          </a:xfrm>
          <a:prstGeom prst="rect">
            <a:avLst/>
          </a:prstGeom>
          <a:noFill/>
          <a:ln/>
        </p:spPr>
        <p:txBody>
          <a:bodyPr wrap="square" lIns="0" tIns="0" rIns="0" bIns="0" rtlCol="0" anchor="ctr"/>
          <a:lstStyle/>
          <a:p>
            <a:pPr marL="0" indent="0">
              <a:buNone/>
            </a:pPr>
            <a:r>
              <a:rPr lang="en-US" sz="1350" b="1" dirty="0">
                <a:solidFill>
                  <a:srgbClr val="0B1B33"/>
                </a:solidFill>
                <a:latin typeface="Calibri" pitchFamily="34" charset="0"/>
                <a:ea typeface="Calibri" pitchFamily="34" charset="-122"/>
                <a:cs typeface="Calibri" pitchFamily="34" charset="-120"/>
              </a:rPr>
              <a:t>No Significant Missing Data</a:t>
            </a:r>
            <a:endParaRPr lang="en-US" sz="1350" dirty="0"/>
          </a:p>
        </p:txBody>
      </p:sp>
      <p:sp>
        <p:nvSpPr>
          <p:cNvPr id="22" name="Text 19"/>
          <p:cNvSpPr txBox="1"/>
          <p:nvPr/>
        </p:nvSpPr>
        <p:spPr>
          <a:xfrm>
            <a:off x="6007608" y="5202936"/>
            <a:ext cx="5376672" cy="594360"/>
          </a:xfrm>
          <a:prstGeom prst="rect">
            <a:avLst/>
          </a:prstGeom>
          <a:noFill/>
          <a:ln/>
        </p:spPr>
        <p:txBody>
          <a:bodyPr wrap="square" lIns="0" tIns="0" rIns="0" bIns="0" rtlCol="0" anchor="ctr"/>
          <a:lstStyle/>
          <a:p>
            <a:pPr marL="0" indent="0">
              <a:lnSpc>
                <a:spcPct val="122000"/>
              </a:lnSpc>
              <a:buNone/>
            </a:pPr>
            <a:r>
              <a:rPr lang="en-US" sz="1100" dirty="0">
                <a:solidFill>
                  <a:srgbClr val="6B7688"/>
                </a:solidFill>
                <a:latin typeface="Calibri" pitchFamily="34" charset="0"/>
                <a:ea typeface="Calibri" pitchFamily="34" charset="-122"/>
                <a:cs typeface="Calibri" pitchFamily="34" charset="-120"/>
              </a:rPr>
              <a:t>The dataset is largely complete, so preprocessing focuses on scaling and balancing rather than imputation.</a:t>
            </a:r>
            <a:endParaRPr lang="en-US" sz="1100" dirty="0"/>
          </a:p>
        </p:txBody>
      </p:sp>
      <p:sp>
        <p:nvSpPr>
          <p:cNvPr id="23" name="Shape 20"/>
          <p:cNvSpPr/>
          <p:nvPr/>
        </p:nvSpPr>
        <p:spPr>
          <a:xfrm>
            <a:off x="594360" y="6035040"/>
            <a:ext cx="2606040" cy="685800"/>
          </a:xfrm>
          <a:prstGeom prst="roundRect">
            <a:avLst>
              <a:gd name="adj" fmla="val 9333"/>
            </a:avLst>
          </a:prstGeom>
          <a:solidFill>
            <a:srgbClr val="0B1B33"/>
          </a:solidFill>
          <a:ln/>
        </p:spPr>
      </p:sp>
      <p:sp>
        <p:nvSpPr>
          <p:cNvPr id="24" name="Text 21"/>
          <p:cNvSpPr txBox="1"/>
          <p:nvPr/>
        </p:nvSpPr>
        <p:spPr>
          <a:xfrm>
            <a:off x="758952"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284,807</a:t>
            </a:r>
            <a:endParaRPr lang="en-US" sz="1800" dirty="0"/>
          </a:p>
        </p:txBody>
      </p:sp>
      <p:sp>
        <p:nvSpPr>
          <p:cNvPr id="25" name="Text 22"/>
          <p:cNvSpPr txBox="1"/>
          <p:nvPr/>
        </p:nvSpPr>
        <p:spPr>
          <a:xfrm>
            <a:off x="1783080"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Total Transactions</a:t>
            </a:r>
            <a:endParaRPr lang="en-US" sz="950" dirty="0"/>
          </a:p>
        </p:txBody>
      </p:sp>
      <p:sp>
        <p:nvSpPr>
          <p:cNvPr id="26" name="Shape 23"/>
          <p:cNvSpPr/>
          <p:nvPr/>
        </p:nvSpPr>
        <p:spPr>
          <a:xfrm>
            <a:off x="3364992" y="6035040"/>
            <a:ext cx="2606040" cy="685800"/>
          </a:xfrm>
          <a:prstGeom prst="roundRect">
            <a:avLst>
              <a:gd name="adj" fmla="val 9333"/>
            </a:avLst>
          </a:prstGeom>
          <a:solidFill>
            <a:srgbClr val="0B1B33"/>
          </a:solidFill>
          <a:ln/>
        </p:spPr>
      </p:sp>
      <p:sp>
        <p:nvSpPr>
          <p:cNvPr id="27" name="Text 24"/>
          <p:cNvSpPr txBox="1"/>
          <p:nvPr/>
        </p:nvSpPr>
        <p:spPr>
          <a:xfrm>
            <a:off x="3529584"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492</a:t>
            </a:r>
            <a:endParaRPr lang="en-US" sz="1800" dirty="0"/>
          </a:p>
        </p:txBody>
      </p:sp>
      <p:sp>
        <p:nvSpPr>
          <p:cNvPr id="28" name="Text 25"/>
          <p:cNvSpPr txBox="1"/>
          <p:nvPr/>
        </p:nvSpPr>
        <p:spPr>
          <a:xfrm>
            <a:off x="4553712"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Fraud Cases</a:t>
            </a:r>
            <a:endParaRPr lang="en-US" sz="950" dirty="0"/>
          </a:p>
        </p:txBody>
      </p:sp>
      <p:sp>
        <p:nvSpPr>
          <p:cNvPr id="29" name="Shape 26"/>
          <p:cNvSpPr/>
          <p:nvPr/>
        </p:nvSpPr>
        <p:spPr>
          <a:xfrm>
            <a:off x="6135624" y="6035040"/>
            <a:ext cx="2606040" cy="685800"/>
          </a:xfrm>
          <a:prstGeom prst="roundRect">
            <a:avLst>
              <a:gd name="adj" fmla="val 9333"/>
            </a:avLst>
          </a:prstGeom>
          <a:solidFill>
            <a:srgbClr val="0B1B33"/>
          </a:solidFill>
          <a:ln/>
        </p:spPr>
      </p:sp>
      <p:sp>
        <p:nvSpPr>
          <p:cNvPr id="30" name="Text 27"/>
          <p:cNvSpPr txBox="1"/>
          <p:nvPr/>
        </p:nvSpPr>
        <p:spPr>
          <a:xfrm>
            <a:off x="6300216"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30</a:t>
            </a:r>
            <a:endParaRPr lang="en-US" sz="1800" dirty="0"/>
          </a:p>
        </p:txBody>
      </p:sp>
      <p:sp>
        <p:nvSpPr>
          <p:cNvPr id="31" name="Text 28"/>
          <p:cNvSpPr txBox="1"/>
          <p:nvPr/>
        </p:nvSpPr>
        <p:spPr>
          <a:xfrm>
            <a:off x="7324344"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Features</a:t>
            </a:r>
            <a:endParaRPr lang="en-US" sz="950" dirty="0"/>
          </a:p>
        </p:txBody>
      </p:sp>
      <p:sp>
        <p:nvSpPr>
          <p:cNvPr id="32" name="Shape 29"/>
          <p:cNvSpPr/>
          <p:nvPr/>
        </p:nvSpPr>
        <p:spPr>
          <a:xfrm>
            <a:off x="8906256" y="6035040"/>
            <a:ext cx="2606040" cy="685800"/>
          </a:xfrm>
          <a:prstGeom prst="roundRect">
            <a:avLst>
              <a:gd name="adj" fmla="val 9333"/>
            </a:avLst>
          </a:prstGeom>
          <a:solidFill>
            <a:srgbClr val="0B1B33"/>
          </a:solidFill>
          <a:ln/>
        </p:spPr>
      </p:sp>
      <p:sp>
        <p:nvSpPr>
          <p:cNvPr id="33" name="Text 30"/>
          <p:cNvSpPr txBox="1"/>
          <p:nvPr/>
        </p:nvSpPr>
        <p:spPr>
          <a:xfrm>
            <a:off x="9070848" y="6035040"/>
            <a:ext cx="1188720" cy="685800"/>
          </a:xfrm>
          <a:prstGeom prst="rect">
            <a:avLst/>
          </a:prstGeom>
          <a:noFill/>
          <a:ln/>
        </p:spPr>
        <p:txBody>
          <a:bodyPr wrap="square" lIns="0" tIns="0" rIns="0" bIns="0" rtlCol="0" anchor="ctr"/>
          <a:lstStyle/>
          <a:p>
            <a:pPr marL="0" indent="0">
              <a:buNone/>
            </a:pPr>
            <a:r>
              <a:rPr lang="en-US" sz="1800" b="1" dirty="0">
                <a:solidFill>
                  <a:srgbClr val="E63946"/>
                </a:solidFill>
                <a:latin typeface="Cambria" pitchFamily="34" charset="0"/>
                <a:ea typeface="Cambria" pitchFamily="34" charset="-122"/>
                <a:cs typeface="Cambria" pitchFamily="34" charset="-120"/>
              </a:rPr>
              <a:t>0.17%</a:t>
            </a:r>
            <a:endParaRPr lang="en-US" sz="1800" dirty="0"/>
          </a:p>
        </p:txBody>
      </p:sp>
      <p:sp>
        <p:nvSpPr>
          <p:cNvPr id="34" name="Text 31"/>
          <p:cNvSpPr txBox="1"/>
          <p:nvPr/>
        </p:nvSpPr>
        <p:spPr>
          <a:xfrm>
            <a:off x="10094976" y="6035040"/>
            <a:ext cx="1371600" cy="685800"/>
          </a:xfrm>
          <a:prstGeom prst="rect">
            <a:avLst/>
          </a:prstGeom>
          <a:noFill/>
          <a:ln/>
        </p:spPr>
        <p:txBody>
          <a:bodyPr wrap="square" lIns="0" tIns="0" rIns="0" bIns="0" rtlCol="0" anchor="ctr"/>
          <a:lstStyle/>
          <a:p>
            <a:pPr marL="0" indent="0">
              <a:lnSpc>
                <a:spcPct val="110000"/>
              </a:lnSpc>
              <a:buNone/>
            </a:pPr>
            <a:r>
              <a:rPr lang="en-US" sz="950" dirty="0">
                <a:solidFill>
                  <a:srgbClr val="AFC6E9"/>
                </a:solidFill>
                <a:latin typeface="Calibri" pitchFamily="34" charset="0"/>
                <a:ea typeface="Calibri" pitchFamily="34" charset="-122"/>
                <a:cs typeface="Calibri" pitchFamily="34" charset="-120"/>
              </a:rPr>
              <a:t>Fraud Rate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EXPLORATORY DATA ANALYSIS</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Visualizing the Transaction Data</a:t>
            </a:r>
            <a:endParaRPr lang="en-US" sz="2800" dirty="0"/>
          </a:p>
        </p:txBody>
      </p:sp>
      <p:sp>
        <p:nvSpPr>
          <p:cNvPr id="4" name="Shape 2"/>
          <p:cNvSpPr/>
          <p:nvPr/>
        </p:nvSpPr>
        <p:spPr>
          <a:xfrm>
            <a:off x="594360"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777240"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Histogram — Amount Distribution</a:t>
            </a:r>
            <a:endParaRPr lang="en-US" sz="1250" dirty="0"/>
          </a:p>
        </p:txBody>
      </p:sp>
      <p:pic>
        <p:nvPicPr>
          <p:cNvPr id="6" name="Image 0" descr="/home/claude/fraud_ppt/hist_amount.png"/>
          <p:cNvPicPr>
            <a:picLocks noChangeAspect="1"/>
          </p:cNvPicPr>
          <p:nvPr/>
        </p:nvPicPr>
        <p:blipFill>
          <a:blip r:embed="rId3"/>
          <a:stretch>
            <a:fillRect/>
          </a:stretch>
        </p:blipFill>
        <p:spPr>
          <a:xfrm>
            <a:off x="731520" y="2240280"/>
            <a:ext cx="3246120" cy="2337206"/>
          </a:xfrm>
          <a:prstGeom prst="rect">
            <a:avLst/>
          </a:prstGeom>
        </p:spPr>
      </p:pic>
      <p:sp>
        <p:nvSpPr>
          <p:cNvPr id="7" name="Text 4"/>
          <p:cNvSpPr txBox="1"/>
          <p:nvPr/>
        </p:nvSpPr>
        <p:spPr>
          <a:xfrm>
            <a:off x="777240"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Legitimate amounts cluster low; fraud skews toward a wider, higher range.</a:t>
            </a:r>
            <a:endParaRPr lang="en-US" sz="1000" dirty="0"/>
          </a:p>
        </p:txBody>
      </p:sp>
      <p:sp>
        <p:nvSpPr>
          <p:cNvPr id="8" name="Shape 5"/>
          <p:cNvSpPr/>
          <p:nvPr/>
        </p:nvSpPr>
        <p:spPr>
          <a:xfrm>
            <a:off x="4315968"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9" name="Text 6"/>
          <p:cNvSpPr txBox="1"/>
          <p:nvPr/>
        </p:nvSpPr>
        <p:spPr>
          <a:xfrm>
            <a:off x="4498848"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Bar Chart — Avg. Amount by Hour Block</a:t>
            </a:r>
            <a:endParaRPr lang="en-US" sz="1250" dirty="0"/>
          </a:p>
        </p:txBody>
      </p:sp>
      <p:graphicFrame>
        <p:nvGraphicFramePr>
          <p:cNvPr id="10" name="Chart 0"/>
          <p:cNvGraphicFramePr/>
          <p:nvPr/>
        </p:nvGraphicFramePr>
        <p:xfrm>
          <a:off x="4453128" y="2240280"/>
          <a:ext cx="324612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4498848"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Average spend is higher during midday and evening transaction blocks.</a:t>
            </a:r>
            <a:endParaRPr lang="en-US" sz="1000" dirty="0"/>
          </a:p>
        </p:txBody>
      </p:sp>
      <p:sp>
        <p:nvSpPr>
          <p:cNvPr id="12" name="Shape 8"/>
          <p:cNvSpPr/>
          <p:nvPr/>
        </p:nvSpPr>
        <p:spPr>
          <a:xfrm>
            <a:off x="8037576"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13" name="Text 9"/>
          <p:cNvSpPr txBox="1"/>
          <p:nvPr/>
        </p:nvSpPr>
        <p:spPr>
          <a:xfrm>
            <a:off x="8220456"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Count Plot — Class Counts</a:t>
            </a:r>
            <a:endParaRPr lang="en-US" sz="1250" dirty="0"/>
          </a:p>
        </p:txBody>
      </p:sp>
      <p:graphicFrame>
        <p:nvGraphicFramePr>
          <p:cNvPr id="14" name="Chart 1"/>
          <p:cNvGraphicFramePr/>
          <p:nvPr/>
        </p:nvGraphicFramePr>
        <p:xfrm>
          <a:off x="8174736" y="2240280"/>
          <a:ext cx="3246120" cy="260604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10"/>
          <p:cNvSpPr txBox="1"/>
          <p:nvPr/>
        </p:nvSpPr>
        <p:spPr>
          <a:xfrm>
            <a:off x="8220456"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Plotted on a linear scale, fraud cases are barely visible next to legitimate volume — reinforcing the imbalance.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8229600" cy="365760"/>
          </a:xfrm>
          <a:prstGeom prst="rect">
            <a:avLst/>
          </a:prstGeom>
          <a:noFill/>
          <a:ln/>
        </p:spPr>
        <p:txBody>
          <a:bodyPr wrap="square" lIns="0" tIns="0" rIns="0" bIns="0" rtlCol="0" anchor="ctr"/>
          <a:lstStyle/>
          <a:p>
            <a:pPr marL="0" indent="0">
              <a:buNone/>
            </a:pPr>
            <a:r>
              <a:rPr lang="en-US" sz="1300" b="1" kern="0" spc="300" dirty="0">
                <a:solidFill>
                  <a:srgbClr val="E63946"/>
                </a:solidFill>
                <a:latin typeface="Calibri" pitchFamily="34" charset="0"/>
                <a:ea typeface="Calibri" pitchFamily="34" charset="-122"/>
                <a:cs typeface="Calibri" pitchFamily="34" charset="-120"/>
              </a:rPr>
              <a:t>EXPLORATORY DATA ANALYSIS</a:t>
            </a:r>
            <a:endParaRPr lang="en-US" sz="1300" dirty="0"/>
          </a:p>
        </p:txBody>
      </p:sp>
      <p:sp>
        <p:nvSpPr>
          <p:cNvPr id="3" name="Text 1"/>
          <p:cNvSpPr txBox="1"/>
          <p:nvPr/>
        </p:nvSpPr>
        <p:spPr>
          <a:xfrm>
            <a:off x="594360" y="822960"/>
            <a:ext cx="10881360" cy="68580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Spotting Patterns and Relationships</a:t>
            </a:r>
            <a:endParaRPr lang="en-US" sz="2800" dirty="0"/>
          </a:p>
        </p:txBody>
      </p:sp>
      <p:sp>
        <p:nvSpPr>
          <p:cNvPr id="4" name="Shape 2"/>
          <p:cNvSpPr/>
          <p:nvPr/>
        </p:nvSpPr>
        <p:spPr>
          <a:xfrm>
            <a:off x="594360"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5" name="Text 3"/>
          <p:cNvSpPr txBox="1"/>
          <p:nvPr/>
        </p:nvSpPr>
        <p:spPr>
          <a:xfrm>
            <a:off x="777240"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Box Plot — Amount by Class</a:t>
            </a:r>
            <a:endParaRPr lang="en-US" sz="1250" dirty="0"/>
          </a:p>
        </p:txBody>
      </p:sp>
      <p:pic>
        <p:nvPicPr>
          <p:cNvPr id="6" name="Image 0" descr="/home/claude/fraud_ppt/boxplot_amount.png"/>
          <p:cNvPicPr>
            <a:picLocks noChangeAspect="1"/>
          </p:cNvPicPr>
          <p:nvPr/>
        </p:nvPicPr>
        <p:blipFill>
          <a:blip r:embed="rId3"/>
          <a:stretch>
            <a:fillRect/>
          </a:stretch>
        </p:blipFill>
        <p:spPr>
          <a:xfrm>
            <a:off x="731520" y="2240280"/>
            <a:ext cx="3246120" cy="2337206"/>
          </a:xfrm>
          <a:prstGeom prst="rect">
            <a:avLst/>
          </a:prstGeom>
        </p:spPr>
      </p:pic>
      <p:sp>
        <p:nvSpPr>
          <p:cNvPr id="7" name="Text 4"/>
          <p:cNvSpPr txBox="1"/>
          <p:nvPr/>
        </p:nvSpPr>
        <p:spPr>
          <a:xfrm>
            <a:off x="777240"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Fraudulent transactions show a higher median amount and wider spread.</a:t>
            </a:r>
            <a:endParaRPr lang="en-US" sz="1000" dirty="0"/>
          </a:p>
        </p:txBody>
      </p:sp>
      <p:sp>
        <p:nvSpPr>
          <p:cNvPr id="8" name="Shape 5"/>
          <p:cNvSpPr/>
          <p:nvPr/>
        </p:nvSpPr>
        <p:spPr>
          <a:xfrm>
            <a:off x="4315968"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9" name="Text 6"/>
          <p:cNvSpPr txBox="1"/>
          <p:nvPr/>
        </p:nvSpPr>
        <p:spPr>
          <a:xfrm>
            <a:off x="4498848"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Scatter Plot — V1 vs V2 by Class</a:t>
            </a:r>
            <a:endParaRPr lang="en-US" sz="1250" dirty="0"/>
          </a:p>
        </p:txBody>
      </p:sp>
      <p:pic>
        <p:nvPicPr>
          <p:cNvPr id="10" name="Image 1" descr="/home/claude/fraud_ppt/scatter_v1v2.png"/>
          <p:cNvPicPr>
            <a:picLocks noChangeAspect="1"/>
          </p:cNvPicPr>
          <p:nvPr/>
        </p:nvPicPr>
        <p:blipFill>
          <a:blip r:embed="rId4"/>
          <a:stretch>
            <a:fillRect/>
          </a:stretch>
        </p:blipFill>
        <p:spPr>
          <a:xfrm>
            <a:off x="4453128" y="2240280"/>
            <a:ext cx="3246120" cy="2337206"/>
          </a:xfrm>
          <a:prstGeom prst="rect">
            <a:avLst/>
          </a:prstGeom>
        </p:spPr>
      </p:pic>
      <p:sp>
        <p:nvSpPr>
          <p:cNvPr id="11" name="Text 7"/>
          <p:cNvSpPr txBox="1"/>
          <p:nvPr/>
        </p:nvSpPr>
        <p:spPr>
          <a:xfrm>
            <a:off x="4498848" y="5212080"/>
            <a:ext cx="3154680" cy="77724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Fraudulent points cluster apart from legitimate ones in PCA feature space.</a:t>
            </a:r>
            <a:endParaRPr lang="en-US" sz="1000" dirty="0"/>
          </a:p>
        </p:txBody>
      </p:sp>
      <p:sp>
        <p:nvSpPr>
          <p:cNvPr id="12" name="Shape 8"/>
          <p:cNvSpPr/>
          <p:nvPr/>
        </p:nvSpPr>
        <p:spPr>
          <a:xfrm>
            <a:off x="8037576" y="1783080"/>
            <a:ext cx="3520440" cy="4343400"/>
          </a:xfrm>
          <a:prstGeom prst="roundRect">
            <a:avLst>
              <a:gd name="adj" fmla="val 2078"/>
            </a:avLst>
          </a:prstGeom>
          <a:solidFill>
            <a:srgbClr val="FFFFFF"/>
          </a:solidFill>
          <a:ln w="12700">
            <a:solidFill>
              <a:srgbClr val="DDE3ED"/>
            </a:solidFill>
            <a:prstDash val="solid"/>
          </a:ln>
          <a:effectLst>
            <a:outerShdw algn="bl" rotWithShape="0">
              <a:srgbClr val="1B2A41">
                <a:alpha val="0"/>
              </a:srgbClr>
            </a:outerShdw>
          </a:effectLst>
        </p:spPr>
      </p:sp>
      <p:sp>
        <p:nvSpPr>
          <p:cNvPr id="13" name="Text 9"/>
          <p:cNvSpPr txBox="1"/>
          <p:nvPr/>
        </p:nvSpPr>
        <p:spPr>
          <a:xfrm>
            <a:off x="8220456" y="1892808"/>
            <a:ext cx="3154680" cy="292608"/>
          </a:xfrm>
          <a:prstGeom prst="rect">
            <a:avLst/>
          </a:prstGeom>
          <a:noFill/>
          <a:ln/>
        </p:spPr>
        <p:txBody>
          <a:bodyPr wrap="square" lIns="0" tIns="0" rIns="0" bIns="0" rtlCol="0" anchor="ctr"/>
          <a:lstStyle/>
          <a:p>
            <a:pPr marL="0" indent="0">
              <a:buNone/>
            </a:pPr>
            <a:r>
              <a:rPr lang="en-US" sz="1250" b="1" dirty="0">
                <a:solidFill>
                  <a:srgbClr val="0B1B33"/>
                </a:solidFill>
                <a:latin typeface="Calibri" pitchFamily="34" charset="0"/>
                <a:ea typeface="Calibri" pitchFamily="34" charset="-122"/>
                <a:cs typeface="Calibri" pitchFamily="34" charset="-120"/>
              </a:rPr>
              <a:t>Correlation Heatmap</a:t>
            </a:r>
            <a:endParaRPr lang="en-US" sz="1250" dirty="0"/>
          </a:p>
        </p:txBody>
      </p:sp>
      <p:pic>
        <p:nvPicPr>
          <p:cNvPr id="14" name="Image 2" descr="/home/claude/fraud_ppt/heatmap_corr.png"/>
          <p:cNvPicPr>
            <a:picLocks noChangeAspect="1"/>
          </p:cNvPicPr>
          <p:nvPr/>
        </p:nvPicPr>
        <p:blipFill>
          <a:blip r:embed="rId5"/>
          <a:stretch>
            <a:fillRect/>
          </a:stretch>
        </p:blipFill>
        <p:spPr>
          <a:xfrm>
            <a:off x="8174736" y="2221992"/>
            <a:ext cx="3246120" cy="2856586"/>
          </a:xfrm>
          <a:prstGeom prst="rect">
            <a:avLst/>
          </a:prstGeom>
        </p:spPr>
      </p:pic>
      <p:sp>
        <p:nvSpPr>
          <p:cNvPr id="15" name="Text 10"/>
          <p:cNvSpPr txBox="1"/>
          <p:nvPr/>
        </p:nvSpPr>
        <p:spPr>
          <a:xfrm>
            <a:off x="8220456" y="5559552"/>
            <a:ext cx="3154680" cy="457200"/>
          </a:xfrm>
          <a:prstGeom prst="rect">
            <a:avLst/>
          </a:prstGeom>
          <a:noFill/>
          <a:ln/>
        </p:spPr>
        <p:txBody>
          <a:bodyPr wrap="square" lIns="0" tIns="0" rIns="0" bIns="0" rtlCol="0" anchor="ctr"/>
          <a:lstStyle/>
          <a:p>
            <a:pPr marL="0" indent="0">
              <a:lnSpc>
                <a:spcPct val="120000"/>
              </a:lnSpc>
              <a:buNone/>
            </a:pPr>
            <a:r>
              <a:rPr lang="en-US" sz="1000" dirty="0">
                <a:solidFill>
                  <a:srgbClr val="6B7688"/>
                </a:solidFill>
                <a:latin typeface="Calibri" pitchFamily="34" charset="0"/>
                <a:ea typeface="Calibri" pitchFamily="34" charset="-122"/>
                <a:cs typeface="Calibri" pitchFamily="34" charset="-120"/>
              </a:rPr>
              <a:t>V2 and V1 show the strongest linear relationship with Class among sampled features.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973</Words>
  <Application>Microsoft Office PowerPoint</Application>
  <PresentationFormat>Widescreen</PresentationFormat>
  <Paragraphs>145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Anuradha Nandini Peddiraju</cp:lastModifiedBy>
  <cp:revision>2</cp:revision>
  <dcterms:created xsi:type="dcterms:W3CDTF">2026-10-05T03:05:45Z</dcterms:created>
  <dcterms:modified xsi:type="dcterms:W3CDTF">2026-10-05T03:19:35Z</dcterms:modified>
</cp:coreProperties>
</file>